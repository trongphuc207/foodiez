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8288000" cy="10287000"/>
  <p:notesSz cx="6858000" cy="9144000"/>
  <p:embeddedFontLst>
    <p:embeddedFont>
      <p:font typeface="League Spartan" charset="1" panose="00000800000000000000"/>
      <p:regular r:id="rId39"/>
    </p:embeddedFont>
    <p:embeddedFont>
      <p:font typeface="Glacial Indifference" charset="1" panose="00000000000000000000"/>
      <p:regular r:id="rId40"/>
    </p:embeddedFont>
    <p:embeddedFont>
      <p:font typeface="Noto Sans Bold" charset="1" panose="020B0802040504020204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29.png" Type="http://schemas.openxmlformats.org/officeDocument/2006/relationships/image"/><Relationship Id="rId15" Target="../media/image3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14" Target="../media/image31.png" Type="http://schemas.openxmlformats.org/officeDocument/2006/relationships/image"/><Relationship Id="rId15" Target="../media/image32.svg" Type="http://schemas.openxmlformats.org/officeDocument/2006/relationships/image"/><Relationship Id="rId16" Target="../media/image3.png" Type="http://schemas.openxmlformats.org/officeDocument/2006/relationships/image"/><Relationship Id="rId17" Target="../media/image4.svg" Type="http://schemas.openxmlformats.org/officeDocument/2006/relationships/image"/><Relationship Id="rId18" Target="../media/image33.png" Type="http://schemas.openxmlformats.org/officeDocument/2006/relationships/image"/><Relationship Id="rId19" Target="../media/image34.svg" Type="http://schemas.openxmlformats.org/officeDocument/2006/relationships/image"/><Relationship Id="rId2" Target="../media/image1.png" Type="http://schemas.openxmlformats.org/officeDocument/2006/relationships/image"/><Relationship Id="rId20" Target="../media/image35.png" Type="http://schemas.openxmlformats.org/officeDocument/2006/relationships/image"/><Relationship Id="rId21" Target="../media/image36.sv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29.png" Type="http://schemas.openxmlformats.org/officeDocument/2006/relationships/image"/><Relationship Id="rId15" Target="../media/image3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29.png" Type="http://schemas.openxmlformats.org/officeDocument/2006/relationships/image"/><Relationship Id="rId15" Target="../media/image3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29.png" Type="http://schemas.openxmlformats.org/officeDocument/2006/relationships/image"/><Relationship Id="rId15" Target="../media/image3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29.png" Type="http://schemas.openxmlformats.org/officeDocument/2006/relationships/image"/><Relationship Id="rId15" Target="../media/image3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29.png" Type="http://schemas.openxmlformats.org/officeDocument/2006/relationships/image"/><Relationship Id="rId15" Target="../media/image3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12" Target="../media/image5.png" Type="http://schemas.openxmlformats.org/officeDocument/2006/relationships/image"/><Relationship Id="rId13" Target="../media/image6.svg" Type="http://schemas.openxmlformats.org/officeDocument/2006/relationships/image"/><Relationship Id="rId14" Target="../media/image4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50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51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52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12" Target="../media/image3.png" Type="http://schemas.openxmlformats.org/officeDocument/2006/relationships/image"/><Relationship Id="rId13" Target="../media/image4.svg" Type="http://schemas.openxmlformats.org/officeDocument/2006/relationships/image"/><Relationship Id="rId14" Target="../media/image33.png" Type="http://schemas.openxmlformats.org/officeDocument/2006/relationships/image"/><Relationship Id="rId15" Target="../media/image34.svg" Type="http://schemas.openxmlformats.org/officeDocument/2006/relationships/image"/><Relationship Id="rId16" Target="../media/image35.png" Type="http://schemas.openxmlformats.org/officeDocument/2006/relationships/image"/><Relationship Id="rId17" Target="../media/image36.svg" Type="http://schemas.openxmlformats.org/officeDocument/2006/relationships/image"/><Relationship Id="rId18" Target="../media/image53.png" Type="http://schemas.openxmlformats.org/officeDocument/2006/relationships/image"/><Relationship Id="rId19" Target="../media/image54.svg" Type="http://schemas.openxmlformats.org/officeDocument/2006/relationships/image"/><Relationship Id="rId2" Target="../media/image1.png" Type="http://schemas.openxmlformats.org/officeDocument/2006/relationships/image"/><Relationship Id="rId20" Target="../media/image55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3.png" Type="http://schemas.openxmlformats.org/officeDocument/2006/relationships/image"/><Relationship Id="rId17" Target="../media/image4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21.png" Type="http://schemas.openxmlformats.org/officeDocument/2006/relationships/image"/><Relationship Id="rId21" Target="../media/image22.svg" Type="http://schemas.openxmlformats.org/officeDocument/2006/relationships/image"/><Relationship Id="rId3" Target="../media/image2.svg" Type="http://schemas.openxmlformats.org/officeDocument/2006/relationships/image"/><Relationship Id="rId4" Target="../media/image56.png" Type="http://schemas.openxmlformats.org/officeDocument/2006/relationships/image"/><Relationship Id="rId5" Target="../media/image57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132" y="-2091690"/>
            <a:ext cx="18201736" cy="14470380"/>
          </a:xfrm>
          <a:custGeom>
            <a:avLst/>
            <a:gdLst/>
            <a:ahLst/>
            <a:cxnLst/>
            <a:rect r="r" b="b" t="t" l="l"/>
            <a:pathLst>
              <a:path h="14470380" w="18201736">
                <a:moveTo>
                  <a:pt x="0" y="0"/>
                </a:moveTo>
                <a:lnTo>
                  <a:pt x="18201736" y="0"/>
                </a:lnTo>
                <a:lnTo>
                  <a:pt x="18201736" y="14470380"/>
                </a:lnTo>
                <a:lnTo>
                  <a:pt x="0" y="14470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503874">
            <a:off x="14156503" y="7744576"/>
            <a:ext cx="4817894" cy="5084849"/>
          </a:xfrm>
          <a:custGeom>
            <a:avLst/>
            <a:gdLst/>
            <a:ahLst/>
            <a:cxnLst/>
            <a:rect r="r" b="b" t="t" l="l"/>
            <a:pathLst>
              <a:path h="5084849" w="4817894">
                <a:moveTo>
                  <a:pt x="0" y="0"/>
                </a:moveTo>
                <a:lnTo>
                  <a:pt x="4817894" y="0"/>
                </a:lnTo>
                <a:lnTo>
                  <a:pt x="4817894" y="5084848"/>
                </a:lnTo>
                <a:lnTo>
                  <a:pt x="0" y="50848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291851">
            <a:off x="15826705" y="-1761052"/>
            <a:ext cx="3898773" cy="4114800"/>
          </a:xfrm>
          <a:custGeom>
            <a:avLst/>
            <a:gdLst/>
            <a:ahLst/>
            <a:cxnLst/>
            <a:rect r="r" b="b" t="t" l="l"/>
            <a:pathLst>
              <a:path h="4114800" w="3898773">
                <a:moveTo>
                  <a:pt x="0" y="0"/>
                </a:moveTo>
                <a:lnTo>
                  <a:pt x="3898773" y="0"/>
                </a:lnTo>
                <a:lnTo>
                  <a:pt x="38987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289414">
            <a:off x="-1719858" y="7325611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7" y="0"/>
                </a:lnTo>
                <a:lnTo>
                  <a:pt x="7756327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9526054" y="2091845"/>
            <a:ext cx="7733246" cy="8195155"/>
          </a:xfrm>
          <a:custGeom>
            <a:avLst/>
            <a:gdLst/>
            <a:ahLst/>
            <a:cxnLst/>
            <a:rect r="r" b="b" t="t" l="l"/>
            <a:pathLst>
              <a:path h="8195155" w="7733246">
                <a:moveTo>
                  <a:pt x="7733246" y="0"/>
                </a:moveTo>
                <a:lnTo>
                  <a:pt x="0" y="0"/>
                </a:lnTo>
                <a:lnTo>
                  <a:pt x="0" y="8195155"/>
                </a:lnTo>
                <a:lnTo>
                  <a:pt x="7733246" y="8195155"/>
                </a:lnTo>
                <a:lnTo>
                  <a:pt x="773324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21752">
            <a:off x="6159453" y="2805130"/>
            <a:ext cx="1956881" cy="2007057"/>
          </a:xfrm>
          <a:custGeom>
            <a:avLst/>
            <a:gdLst/>
            <a:ahLst/>
            <a:cxnLst/>
            <a:rect r="r" b="b" t="t" l="l"/>
            <a:pathLst>
              <a:path h="2007057" w="1956881">
                <a:moveTo>
                  <a:pt x="0" y="0"/>
                </a:moveTo>
                <a:lnTo>
                  <a:pt x="1956881" y="0"/>
                </a:lnTo>
                <a:lnTo>
                  <a:pt x="1956881" y="2007057"/>
                </a:lnTo>
                <a:lnTo>
                  <a:pt x="0" y="20070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559260">
            <a:off x="2254476" y="1507647"/>
            <a:ext cx="3014581" cy="4952084"/>
          </a:xfrm>
          <a:custGeom>
            <a:avLst/>
            <a:gdLst/>
            <a:ahLst/>
            <a:cxnLst/>
            <a:rect r="r" b="b" t="t" l="l"/>
            <a:pathLst>
              <a:path h="4952084" w="3014581">
                <a:moveTo>
                  <a:pt x="0" y="0"/>
                </a:moveTo>
                <a:lnTo>
                  <a:pt x="3014581" y="0"/>
                </a:lnTo>
                <a:lnTo>
                  <a:pt x="3014581" y="4952084"/>
                </a:lnTo>
                <a:lnTo>
                  <a:pt x="0" y="495208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94445" y="5320896"/>
            <a:ext cx="6987261" cy="2602755"/>
          </a:xfrm>
          <a:custGeom>
            <a:avLst/>
            <a:gdLst/>
            <a:ahLst/>
            <a:cxnLst/>
            <a:rect r="r" b="b" t="t" l="l"/>
            <a:pathLst>
              <a:path h="2602755" w="6987261">
                <a:moveTo>
                  <a:pt x="0" y="0"/>
                </a:moveTo>
                <a:lnTo>
                  <a:pt x="6987261" y="0"/>
                </a:lnTo>
                <a:lnTo>
                  <a:pt x="6987261" y="2602755"/>
                </a:lnTo>
                <a:lnTo>
                  <a:pt x="0" y="260275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370209">
            <a:off x="7259498" y="5647036"/>
            <a:ext cx="1956881" cy="2007057"/>
          </a:xfrm>
          <a:custGeom>
            <a:avLst/>
            <a:gdLst/>
            <a:ahLst/>
            <a:cxnLst/>
            <a:rect r="r" b="b" t="t" l="l"/>
            <a:pathLst>
              <a:path h="2007057" w="1956881">
                <a:moveTo>
                  <a:pt x="0" y="0"/>
                </a:moveTo>
                <a:lnTo>
                  <a:pt x="1956881" y="0"/>
                </a:lnTo>
                <a:lnTo>
                  <a:pt x="1956881" y="2007057"/>
                </a:lnTo>
                <a:lnTo>
                  <a:pt x="0" y="20070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289414">
            <a:off x="4951411" y="-5037118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7" y="0"/>
                </a:lnTo>
                <a:lnTo>
                  <a:pt x="7756327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18578" y="5584155"/>
            <a:ext cx="5480236" cy="1866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36"/>
              </a:lnSpc>
            </a:pPr>
            <a:r>
              <a:rPr lang="en-US" sz="10883">
                <a:solidFill>
                  <a:srgbClr val="F5F0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FOR 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19149" y="3032518"/>
            <a:ext cx="4085236" cy="1866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36"/>
              </a:lnSpc>
            </a:pPr>
            <a:r>
              <a:rPr lang="en-US" sz="10883">
                <a:solidFill>
                  <a:srgbClr val="2244B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-5805336">
            <a:off x="9372183" y="306448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3"/>
                </a:lnTo>
                <a:lnTo>
                  <a:pt x="0" y="226896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2968457">
            <a:off x="17226671" y="-838134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3"/>
                </a:lnTo>
                <a:lnTo>
                  <a:pt x="0" y="226896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8993957">
            <a:off x="-309747" y="8792039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3"/>
                </a:lnTo>
                <a:lnTo>
                  <a:pt x="0" y="226896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2833469">
            <a:off x="16757895" y="8817735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3"/>
                </a:lnTo>
                <a:lnTo>
                  <a:pt x="0" y="226896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5805336">
            <a:off x="6564998" y="-1587209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3"/>
                </a:lnTo>
                <a:lnTo>
                  <a:pt x="0" y="226896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823" y="-2091690"/>
            <a:ext cx="18201736" cy="14470380"/>
          </a:xfrm>
          <a:custGeom>
            <a:avLst/>
            <a:gdLst/>
            <a:ahLst/>
            <a:cxnLst/>
            <a:rect r="r" b="b" t="t" l="l"/>
            <a:pathLst>
              <a:path h="14470380" w="18201736">
                <a:moveTo>
                  <a:pt x="0" y="0"/>
                </a:moveTo>
                <a:lnTo>
                  <a:pt x="18201736" y="0"/>
                </a:lnTo>
                <a:lnTo>
                  <a:pt x="18201736" y="14470380"/>
                </a:lnTo>
                <a:lnTo>
                  <a:pt x="0" y="14470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345113">
            <a:off x="9215868" y="893820"/>
            <a:ext cx="7667638" cy="2856195"/>
          </a:xfrm>
          <a:custGeom>
            <a:avLst/>
            <a:gdLst/>
            <a:ahLst/>
            <a:cxnLst/>
            <a:rect r="r" b="b" t="t" l="l"/>
            <a:pathLst>
              <a:path h="2856195" w="7667638">
                <a:moveTo>
                  <a:pt x="7667638" y="0"/>
                </a:moveTo>
                <a:lnTo>
                  <a:pt x="0" y="0"/>
                </a:lnTo>
                <a:lnTo>
                  <a:pt x="0" y="2856195"/>
                </a:lnTo>
                <a:lnTo>
                  <a:pt x="7667638" y="2856195"/>
                </a:lnTo>
                <a:lnTo>
                  <a:pt x="766763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49779">
            <a:off x="1346072" y="701749"/>
            <a:ext cx="8562962" cy="3189703"/>
          </a:xfrm>
          <a:custGeom>
            <a:avLst/>
            <a:gdLst/>
            <a:ahLst/>
            <a:cxnLst/>
            <a:rect r="r" b="b" t="t" l="l"/>
            <a:pathLst>
              <a:path h="3189703" w="8562962">
                <a:moveTo>
                  <a:pt x="0" y="0"/>
                </a:moveTo>
                <a:lnTo>
                  <a:pt x="8562962" y="0"/>
                </a:lnTo>
                <a:lnTo>
                  <a:pt x="8562962" y="3189704"/>
                </a:lnTo>
                <a:lnTo>
                  <a:pt x="0" y="3189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628520" y="5143500"/>
            <a:ext cx="2298265" cy="2357195"/>
          </a:xfrm>
          <a:custGeom>
            <a:avLst/>
            <a:gdLst/>
            <a:ahLst/>
            <a:cxnLst/>
            <a:rect r="r" b="b" t="t" l="l"/>
            <a:pathLst>
              <a:path h="2357195" w="2298265">
                <a:moveTo>
                  <a:pt x="0" y="0"/>
                </a:moveTo>
                <a:lnTo>
                  <a:pt x="2298265" y="0"/>
                </a:lnTo>
                <a:lnTo>
                  <a:pt x="2298265" y="2357195"/>
                </a:lnTo>
                <a:lnTo>
                  <a:pt x="0" y="23571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0800000">
            <a:off x="3554333" y="5099935"/>
            <a:ext cx="2478899" cy="2542461"/>
          </a:xfrm>
          <a:custGeom>
            <a:avLst/>
            <a:gdLst/>
            <a:ahLst/>
            <a:cxnLst/>
            <a:rect r="r" b="b" t="t" l="l"/>
            <a:pathLst>
              <a:path h="2542461" w="2478899">
                <a:moveTo>
                  <a:pt x="2478900" y="0"/>
                </a:moveTo>
                <a:lnTo>
                  <a:pt x="0" y="0"/>
                </a:lnTo>
                <a:lnTo>
                  <a:pt x="0" y="2542461"/>
                </a:lnTo>
                <a:lnTo>
                  <a:pt x="2478900" y="2542461"/>
                </a:lnTo>
                <a:lnTo>
                  <a:pt x="247890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6471493" y="5000649"/>
            <a:ext cx="2672507" cy="2741033"/>
          </a:xfrm>
          <a:custGeom>
            <a:avLst/>
            <a:gdLst/>
            <a:ahLst/>
            <a:cxnLst/>
            <a:rect r="r" b="b" t="t" l="l"/>
            <a:pathLst>
              <a:path h="2741033" w="2672507">
                <a:moveTo>
                  <a:pt x="0" y="0"/>
                </a:moveTo>
                <a:lnTo>
                  <a:pt x="2672507" y="0"/>
                </a:lnTo>
                <a:lnTo>
                  <a:pt x="2672507" y="2741033"/>
                </a:lnTo>
                <a:lnTo>
                  <a:pt x="0" y="27410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344746">
            <a:off x="10555799" y="1268508"/>
            <a:ext cx="5003989" cy="1467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17"/>
              </a:lnSpc>
            </a:pPr>
            <a:r>
              <a:rPr lang="en-US" sz="8583">
                <a:solidFill>
                  <a:srgbClr val="2244B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180 phút</a:t>
            </a:r>
          </a:p>
        </p:txBody>
      </p:sp>
      <p:sp>
        <p:nvSpPr>
          <p:cNvPr name="TextBox 9" id="9"/>
          <p:cNvSpPr txBox="true"/>
          <p:nvPr/>
        </p:nvSpPr>
        <p:spPr>
          <a:xfrm rot="-149779">
            <a:off x="2191331" y="967930"/>
            <a:ext cx="6863319" cy="1866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36"/>
              </a:lnSpc>
            </a:pPr>
            <a:r>
              <a:rPr lang="en-US" sz="10883">
                <a:solidFill>
                  <a:srgbClr val="F5F0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Timeline</a:t>
            </a:r>
          </a:p>
        </p:txBody>
      </p:sp>
      <p:sp>
        <p:nvSpPr>
          <p:cNvPr name="TextBox 10" id="10"/>
          <p:cNvSpPr txBox="true"/>
          <p:nvPr/>
        </p:nvSpPr>
        <p:spPr>
          <a:xfrm rot="-358876">
            <a:off x="808712" y="5317984"/>
            <a:ext cx="2116521" cy="166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1"/>
              </a:lnSpc>
            </a:pPr>
            <a:r>
              <a:rPr lang="en-US" sz="3151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Analyze &amp; Select Features</a:t>
            </a:r>
          </a:p>
        </p:txBody>
      </p:sp>
      <p:sp>
        <p:nvSpPr>
          <p:cNvPr name="TextBox 11" id="11"/>
          <p:cNvSpPr txBox="true"/>
          <p:nvPr/>
        </p:nvSpPr>
        <p:spPr>
          <a:xfrm rot="420887">
            <a:off x="3724565" y="5527754"/>
            <a:ext cx="2251565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Design Test Cases</a:t>
            </a:r>
          </a:p>
        </p:txBody>
      </p:sp>
      <p:sp>
        <p:nvSpPr>
          <p:cNvPr name="TextBox 12" id="12"/>
          <p:cNvSpPr txBox="true"/>
          <p:nvPr/>
        </p:nvSpPr>
        <p:spPr>
          <a:xfrm rot="-436571">
            <a:off x="6591400" y="5420365"/>
            <a:ext cx="2406266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Generate Test Code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10800000">
            <a:off x="12452709" y="5143500"/>
            <a:ext cx="2765663" cy="2836577"/>
          </a:xfrm>
          <a:custGeom>
            <a:avLst/>
            <a:gdLst/>
            <a:ahLst/>
            <a:cxnLst/>
            <a:rect r="r" b="b" t="t" l="l"/>
            <a:pathLst>
              <a:path h="2836577" w="2765663">
                <a:moveTo>
                  <a:pt x="0" y="0"/>
                </a:moveTo>
                <a:lnTo>
                  <a:pt x="2765663" y="0"/>
                </a:lnTo>
                <a:lnTo>
                  <a:pt x="2765663" y="2836577"/>
                </a:lnTo>
                <a:lnTo>
                  <a:pt x="0" y="28365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-10800000">
            <a:off x="9582150" y="5124357"/>
            <a:ext cx="2654404" cy="2722465"/>
          </a:xfrm>
          <a:custGeom>
            <a:avLst/>
            <a:gdLst/>
            <a:ahLst/>
            <a:cxnLst/>
            <a:rect r="r" b="b" t="t" l="l"/>
            <a:pathLst>
              <a:path h="2722465" w="2654404">
                <a:moveTo>
                  <a:pt x="2654404" y="0"/>
                </a:moveTo>
                <a:lnTo>
                  <a:pt x="0" y="0"/>
                </a:lnTo>
                <a:lnTo>
                  <a:pt x="0" y="2722465"/>
                </a:lnTo>
                <a:lnTo>
                  <a:pt x="2654404" y="2722465"/>
                </a:lnTo>
                <a:lnTo>
                  <a:pt x="265440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420887">
            <a:off x="9801253" y="5558158"/>
            <a:ext cx="2251565" cy="184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Debug Tests</a:t>
            </a:r>
          </a:p>
          <a:p>
            <a:pPr algn="l">
              <a:lnSpc>
                <a:spcPts val="4900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-10800000">
            <a:off x="15522337" y="4898460"/>
            <a:ext cx="2765663" cy="2836577"/>
          </a:xfrm>
          <a:custGeom>
            <a:avLst/>
            <a:gdLst/>
            <a:ahLst/>
            <a:cxnLst/>
            <a:rect r="r" b="b" t="t" l="l"/>
            <a:pathLst>
              <a:path h="2836577" w="2765663">
                <a:moveTo>
                  <a:pt x="0" y="0"/>
                </a:moveTo>
                <a:lnTo>
                  <a:pt x="2765663" y="0"/>
                </a:lnTo>
                <a:lnTo>
                  <a:pt x="2765663" y="2836578"/>
                </a:lnTo>
                <a:lnTo>
                  <a:pt x="0" y="28365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-436571">
            <a:off x="12739656" y="5671396"/>
            <a:ext cx="2112118" cy="184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Optimization &amp; Mocking</a:t>
            </a:r>
          </a:p>
        </p:txBody>
      </p:sp>
      <p:sp>
        <p:nvSpPr>
          <p:cNvPr name="TextBox 18" id="18"/>
          <p:cNvSpPr txBox="true"/>
          <p:nvPr/>
        </p:nvSpPr>
        <p:spPr>
          <a:xfrm rot="-436571">
            <a:off x="15614391" y="5483314"/>
            <a:ext cx="2694479" cy="1812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9"/>
              </a:lnSpc>
            </a:pPr>
            <a:r>
              <a:rPr lang="en-US" sz="3435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Documentation &amp; Demo</a:t>
            </a:r>
          </a:p>
          <a:p>
            <a:pPr algn="l">
              <a:lnSpc>
                <a:spcPts val="4809"/>
              </a:lnSpc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10477500" y="4372130"/>
            <a:ext cx="1191505" cy="1310497"/>
            <a:chOff x="0" y="0"/>
            <a:chExt cx="812800" cy="8939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93971"/>
            </a:xfrm>
            <a:custGeom>
              <a:avLst/>
              <a:gdLst/>
              <a:ahLst/>
              <a:cxnLst/>
              <a:rect r="r" b="b" t="t" l="l"/>
              <a:pathLst>
                <a:path h="893971" w="812800">
                  <a:moveTo>
                    <a:pt x="406400" y="0"/>
                  </a:moveTo>
                  <a:cubicBezTo>
                    <a:pt x="181951" y="0"/>
                    <a:pt x="0" y="200122"/>
                    <a:pt x="0" y="446986"/>
                  </a:cubicBezTo>
                  <a:cubicBezTo>
                    <a:pt x="0" y="693849"/>
                    <a:pt x="181951" y="893971"/>
                    <a:pt x="406400" y="893971"/>
                  </a:cubicBezTo>
                  <a:cubicBezTo>
                    <a:pt x="630849" y="893971"/>
                    <a:pt x="812800" y="693849"/>
                    <a:pt x="812800" y="446986"/>
                  </a:cubicBezTo>
                  <a:cubicBezTo>
                    <a:pt x="812800" y="20012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06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-20965"/>
              <a:ext cx="660400" cy="831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000"/>
                </a:lnSpc>
                <a:spcBef>
                  <a:spcPct val="0"/>
                </a:spcBef>
              </a:pPr>
              <a:r>
                <a:rPr lang="en-US" b="true" sz="5000">
                  <a:solidFill>
                    <a:srgbClr val="2244B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4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282590" y="4282419"/>
            <a:ext cx="1191505" cy="1310497"/>
            <a:chOff x="0" y="0"/>
            <a:chExt cx="812800" cy="8939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93971"/>
            </a:xfrm>
            <a:custGeom>
              <a:avLst/>
              <a:gdLst/>
              <a:ahLst/>
              <a:cxnLst/>
              <a:rect r="r" b="b" t="t" l="l"/>
              <a:pathLst>
                <a:path h="893971" w="812800">
                  <a:moveTo>
                    <a:pt x="406400" y="0"/>
                  </a:moveTo>
                  <a:cubicBezTo>
                    <a:pt x="181951" y="0"/>
                    <a:pt x="0" y="200122"/>
                    <a:pt x="0" y="446986"/>
                  </a:cubicBezTo>
                  <a:cubicBezTo>
                    <a:pt x="0" y="693849"/>
                    <a:pt x="181951" y="893971"/>
                    <a:pt x="406400" y="893971"/>
                  </a:cubicBezTo>
                  <a:cubicBezTo>
                    <a:pt x="630849" y="893971"/>
                    <a:pt x="812800" y="693849"/>
                    <a:pt x="812800" y="446986"/>
                  </a:cubicBezTo>
                  <a:cubicBezTo>
                    <a:pt x="812800" y="20012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063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-20965"/>
              <a:ext cx="660400" cy="831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000"/>
                </a:lnSpc>
                <a:spcBef>
                  <a:spcPct val="0"/>
                </a:spcBef>
              </a:pPr>
              <a:r>
                <a:rPr lang="en-US" b="true" sz="5000">
                  <a:solidFill>
                    <a:srgbClr val="2244B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5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399472" y="4282419"/>
            <a:ext cx="1191505" cy="1310497"/>
            <a:chOff x="0" y="0"/>
            <a:chExt cx="812800" cy="89397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93971"/>
            </a:xfrm>
            <a:custGeom>
              <a:avLst/>
              <a:gdLst/>
              <a:ahLst/>
              <a:cxnLst/>
              <a:rect r="r" b="b" t="t" l="l"/>
              <a:pathLst>
                <a:path h="893971" w="812800">
                  <a:moveTo>
                    <a:pt x="406400" y="0"/>
                  </a:moveTo>
                  <a:cubicBezTo>
                    <a:pt x="181951" y="0"/>
                    <a:pt x="0" y="200122"/>
                    <a:pt x="0" y="446986"/>
                  </a:cubicBezTo>
                  <a:cubicBezTo>
                    <a:pt x="0" y="693849"/>
                    <a:pt x="181951" y="893971"/>
                    <a:pt x="406400" y="893971"/>
                  </a:cubicBezTo>
                  <a:cubicBezTo>
                    <a:pt x="630849" y="893971"/>
                    <a:pt x="812800" y="693849"/>
                    <a:pt x="812800" y="446986"/>
                  </a:cubicBezTo>
                  <a:cubicBezTo>
                    <a:pt x="812800" y="20012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063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-20965"/>
              <a:ext cx="660400" cy="831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000"/>
                </a:lnSpc>
                <a:spcBef>
                  <a:spcPct val="0"/>
                </a:spcBef>
              </a:pPr>
              <a:r>
                <a:rPr lang="en-US" b="true" sz="5000">
                  <a:solidFill>
                    <a:srgbClr val="2244B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6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-292146">
            <a:off x="899661" y="4234216"/>
            <a:ext cx="1191505" cy="1310497"/>
            <a:chOff x="0" y="0"/>
            <a:chExt cx="812800" cy="89397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93971"/>
            </a:xfrm>
            <a:custGeom>
              <a:avLst/>
              <a:gdLst/>
              <a:ahLst/>
              <a:cxnLst/>
              <a:rect r="r" b="b" t="t" l="l"/>
              <a:pathLst>
                <a:path h="893971" w="812800">
                  <a:moveTo>
                    <a:pt x="406400" y="0"/>
                  </a:moveTo>
                  <a:cubicBezTo>
                    <a:pt x="181951" y="0"/>
                    <a:pt x="0" y="200122"/>
                    <a:pt x="0" y="446986"/>
                  </a:cubicBezTo>
                  <a:cubicBezTo>
                    <a:pt x="0" y="693849"/>
                    <a:pt x="181951" y="893971"/>
                    <a:pt x="406400" y="893971"/>
                  </a:cubicBezTo>
                  <a:cubicBezTo>
                    <a:pt x="630849" y="893971"/>
                    <a:pt x="812800" y="693849"/>
                    <a:pt x="812800" y="446986"/>
                  </a:cubicBezTo>
                  <a:cubicBezTo>
                    <a:pt x="812800" y="20012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063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-20965"/>
              <a:ext cx="660400" cy="831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000"/>
                </a:lnSpc>
                <a:spcBef>
                  <a:spcPct val="0"/>
                </a:spcBef>
              </a:pPr>
              <a:r>
                <a:rPr lang="en-US" b="true" sz="5000">
                  <a:solidFill>
                    <a:srgbClr val="2244B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1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413285">
            <a:off x="4361764" y="4143140"/>
            <a:ext cx="1191505" cy="1310497"/>
            <a:chOff x="0" y="0"/>
            <a:chExt cx="812800" cy="89397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93971"/>
            </a:xfrm>
            <a:custGeom>
              <a:avLst/>
              <a:gdLst/>
              <a:ahLst/>
              <a:cxnLst/>
              <a:rect r="r" b="b" t="t" l="l"/>
              <a:pathLst>
                <a:path h="893971" w="812800">
                  <a:moveTo>
                    <a:pt x="406400" y="0"/>
                  </a:moveTo>
                  <a:cubicBezTo>
                    <a:pt x="181951" y="0"/>
                    <a:pt x="0" y="200122"/>
                    <a:pt x="0" y="446986"/>
                  </a:cubicBezTo>
                  <a:cubicBezTo>
                    <a:pt x="0" y="693849"/>
                    <a:pt x="181951" y="893971"/>
                    <a:pt x="406400" y="893971"/>
                  </a:cubicBezTo>
                  <a:cubicBezTo>
                    <a:pt x="630849" y="893971"/>
                    <a:pt x="812800" y="693849"/>
                    <a:pt x="812800" y="446986"/>
                  </a:cubicBezTo>
                  <a:cubicBezTo>
                    <a:pt x="812800" y="20012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063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-20965"/>
              <a:ext cx="660400" cy="831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000"/>
                </a:lnSpc>
                <a:spcBef>
                  <a:spcPct val="0"/>
                </a:spcBef>
              </a:pPr>
              <a:r>
                <a:rPr lang="en-US" b="true" sz="5000">
                  <a:solidFill>
                    <a:srgbClr val="2244B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321870">
            <a:off x="7284244" y="4282419"/>
            <a:ext cx="1191505" cy="1310497"/>
            <a:chOff x="0" y="0"/>
            <a:chExt cx="812800" cy="89397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93971"/>
            </a:xfrm>
            <a:custGeom>
              <a:avLst/>
              <a:gdLst/>
              <a:ahLst/>
              <a:cxnLst/>
              <a:rect r="r" b="b" t="t" l="l"/>
              <a:pathLst>
                <a:path h="893971" w="812800">
                  <a:moveTo>
                    <a:pt x="406400" y="0"/>
                  </a:moveTo>
                  <a:cubicBezTo>
                    <a:pt x="181951" y="0"/>
                    <a:pt x="0" y="200122"/>
                    <a:pt x="0" y="446986"/>
                  </a:cubicBezTo>
                  <a:cubicBezTo>
                    <a:pt x="0" y="693849"/>
                    <a:pt x="181951" y="893971"/>
                    <a:pt x="406400" y="893971"/>
                  </a:cubicBezTo>
                  <a:cubicBezTo>
                    <a:pt x="630849" y="893971"/>
                    <a:pt x="812800" y="693849"/>
                    <a:pt x="812800" y="446986"/>
                  </a:cubicBezTo>
                  <a:cubicBezTo>
                    <a:pt x="812800" y="20012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063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-20965"/>
              <a:ext cx="660400" cy="831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000"/>
                </a:lnSpc>
                <a:spcBef>
                  <a:spcPct val="0"/>
                </a:spcBef>
              </a:pPr>
              <a:r>
                <a:rPr lang="en-US" b="true" sz="5000">
                  <a:solidFill>
                    <a:srgbClr val="2244B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525536" y="811344"/>
            <a:ext cx="8235782" cy="8446956"/>
          </a:xfrm>
          <a:custGeom>
            <a:avLst/>
            <a:gdLst/>
            <a:ahLst/>
            <a:cxnLst/>
            <a:rect r="r" b="b" t="t" l="l"/>
            <a:pathLst>
              <a:path h="8446956" w="8235782">
                <a:moveTo>
                  <a:pt x="0" y="0"/>
                </a:moveTo>
                <a:lnTo>
                  <a:pt x="8235782" y="0"/>
                </a:lnTo>
                <a:lnTo>
                  <a:pt x="8235782" y="8446956"/>
                </a:lnTo>
                <a:lnTo>
                  <a:pt x="0" y="84469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631" y="16069"/>
            <a:ext cx="7040756" cy="2622681"/>
          </a:xfrm>
          <a:custGeom>
            <a:avLst/>
            <a:gdLst/>
            <a:ahLst/>
            <a:cxnLst/>
            <a:rect r="r" b="b" t="t" l="l"/>
            <a:pathLst>
              <a:path h="2622681" w="7040756">
                <a:moveTo>
                  <a:pt x="0" y="0"/>
                </a:moveTo>
                <a:lnTo>
                  <a:pt x="7040756" y="0"/>
                </a:lnTo>
                <a:lnTo>
                  <a:pt x="7040756" y="2622681"/>
                </a:lnTo>
                <a:lnTo>
                  <a:pt x="0" y="26226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2167235" y="5412646"/>
            <a:ext cx="6120765" cy="4874354"/>
          </a:xfrm>
          <a:custGeom>
            <a:avLst/>
            <a:gdLst/>
            <a:ahLst/>
            <a:cxnLst/>
            <a:rect r="r" b="b" t="t" l="l"/>
            <a:pathLst>
              <a:path h="4874354" w="6120765">
                <a:moveTo>
                  <a:pt x="6120765" y="0"/>
                </a:moveTo>
                <a:lnTo>
                  <a:pt x="0" y="0"/>
                </a:lnTo>
                <a:lnTo>
                  <a:pt x="0" y="4874354"/>
                </a:lnTo>
                <a:lnTo>
                  <a:pt x="6120765" y="4874354"/>
                </a:lnTo>
                <a:lnTo>
                  <a:pt x="612076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45019" y="296766"/>
            <a:ext cx="5899980" cy="1956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70"/>
              </a:lnSpc>
            </a:pPr>
            <a:r>
              <a:rPr lang="en-US" sz="5621">
                <a:solidFill>
                  <a:srgbClr val="F5F0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1.Analyze &amp; Select Features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4157" y="2562550"/>
            <a:ext cx="15402459" cy="679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1️⃣ Logic nghiệp vụ rõ ràng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→ Dễ mô tả quy trình mua hàng (Add → Update → Calculate → Checkout).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2️⃣ Nhiều edge cases để test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→ Có nhiều tình huống đặc biệt giú</a:t>
            </a: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 kiểm thử toàn diện (product không tồn tại, user sai ID, giỏ hàng trống...).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3️⃣ Có dependencies (Product, User)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→ Gắn chặt với m</a:t>
            </a: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odule khác, thể hiện quan hệ giữa thực thể trong hệ thống.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4️⃣ Mang tính thực tế cao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→ Là tính năng cốt lõi trong mọi ứng dụng đặt đồ ăn (ShopeeFood, GrabFood...).</a:t>
            </a:r>
          </a:p>
          <a:p>
            <a:pPr algn="l">
              <a:lnSpc>
                <a:spcPts val="4900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-5805336">
            <a:off x="9669372" y="-169768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3"/>
                </a:lnTo>
                <a:lnTo>
                  <a:pt x="0" y="22689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0789">
            <a:off x="6116916" y="-5805896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7" y="0"/>
                </a:lnTo>
                <a:lnTo>
                  <a:pt x="7756327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0789">
            <a:off x="15176680" y="-4783782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6" y="0"/>
                </a:lnTo>
                <a:lnTo>
                  <a:pt x="7756326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132" y="-2091690"/>
            <a:ext cx="18201736" cy="14470380"/>
          </a:xfrm>
          <a:custGeom>
            <a:avLst/>
            <a:gdLst/>
            <a:ahLst/>
            <a:cxnLst/>
            <a:rect r="r" b="b" t="t" l="l"/>
            <a:pathLst>
              <a:path h="14470380" w="18201736">
                <a:moveTo>
                  <a:pt x="0" y="0"/>
                </a:moveTo>
                <a:lnTo>
                  <a:pt x="18201736" y="0"/>
                </a:lnTo>
                <a:lnTo>
                  <a:pt x="18201736" y="14470380"/>
                </a:lnTo>
                <a:lnTo>
                  <a:pt x="0" y="14470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028700" y="1327410"/>
            <a:ext cx="7732618" cy="7930890"/>
          </a:xfrm>
          <a:custGeom>
            <a:avLst/>
            <a:gdLst/>
            <a:ahLst/>
            <a:cxnLst/>
            <a:rect r="r" b="b" t="t" l="l"/>
            <a:pathLst>
              <a:path h="7930890" w="7732618">
                <a:moveTo>
                  <a:pt x="0" y="0"/>
                </a:moveTo>
                <a:lnTo>
                  <a:pt x="7732618" y="0"/>
                </a:lnTo>
                <a:lnTo>
                  <a:pt x="7732618" y="7930890"/>
                </a:lnTo>
                <a:lnTo>
                  <a:pt x="0" y="7930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4446" y="1180787"/>
            <a:ext cx="7040756" cy="2622681"/>
          </a:xfrm>
          <a:custGeom>
            <a:avLst/>
            <a:gdLst/>
            <a:ahLst/>
            <a:cxnLst/>
            <a:rect r="r" b="b" t="t" l="l"/>
            <a:pathLst>
              <a:path h="2622681" w="7040756">
                <a:moveTo>
                  <a:pt x="0" y="0"/>
                </a:moveTo>
                <a:lnTo>
                  <a:pt x="7040756" y="0"/>
                </a:lnTo>
                <a:lnTo>
                  <a:pt x="7040756" y="2622682"/>
                </a:lnTo>
                <a:lnTo>
                  <a:pt x="0" y="26226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2167235" y="5412646"/>
            <a:ext cx="6120765" cy="4874354"/>
          </a:xfrm>
          <a:custGeom>
            <a:avLst/>
            <a:gdLst/>
            <a:ahLst/>
            <a:cxnLst/>
            <a:rect r="r" b="b" t="t" l="l"/>
            <a:pathLst>
              <a:path h="4874354" w="6120765">
                <a:moveTo>
                  <a:pt x="6120765" y="0"/>
                </a:moveTo>
                <a:lnTo>
                  <a:pt x="0" y="0"/>
                </a:lnTo>
                <a:lnTo>
                  <a:pt x="0" y="4874354"/>
                </a:lnTo>
                <a:lnTo>
                  <a:pt x="6120765" y="4874354"/>
                </a:lnTo>
                <a:lnTo>
                  <a:pt x="612076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0789">
            <a:off x="6116916" y="-5805896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7" y="0"/>
                </a:lnTo>
                <a:lnTo>
                  <a:pt x="7756327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56841" y="1461484"/>
            <a:ext cx="5899980" cy="1956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70"/>
              </a:lnSpc>
            </a:pPr>
            <a:r>
              <a:rPr lang="en-US" sz="5621">
                <a:solidFill>
                  <a:srgbClr val="F5F0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1.Analyze &amp; Select Features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56841" y="3698875"/>
            <a:ext cx="6076337" cy="494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Function: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addItem(product, quantity)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removeItem(productId)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</a:t>
            </a: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pdateQuantity(productId, qty)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calculateTotal()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clearCart()</a:t>
            </a:r>
          </a:p>
          <a:p>
            <a:pPr algn="l">
              <a:lnSpc>
                <a:spcPts val="4900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-5805336">
            <a:off x="9669372" y="-169768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3"/>
                </a:lnTo>
                <a:lnTo>
                  <a:pt x="0" y="22689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0789">
            <a:off x="15176680" y="-4783782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6" y="0"/>
                </a:lnTo>
                <a:lnTo>
                  <a:pt x="7756326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132" y="-2091690"/>
            <a:ext cx="18201736" cy="14470380"/>
          </a:xfrm>
          <a:custGeom>
            <a:avLst/>
            <a:gdLst/>
            <a:ahLst/>
            <a:cxnLst/>
            <a:rect r="r" b="b" t="t" l="l"/>
            <a:pathLst>
              <a:path h="14470380" w="18201736">
                <a:moveTo>
                  <a:pt x="0" y="0"/>
                </a:moveTo>
                <a:lnTo>
                  <a:pt x="18201736" y="0"/>
                </a:lnTo>
                <a:lnTo>
                  <a:pt x="18201736" y="14470380"/>
                </a:lnTo>
                <a:lnTo>
                  <a:pt x="0" y="14470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028700" y="1327410"/>
            <a:ext cx="7732618" cy="7930890"/>
          </a:xfrm>
          <a:custGeom>
            <a:avLst/>
            <a:gdLst/>
            <a:ahLst/>
            <a:cxnLst/>
            <a:rect r="r" b="b" t="t" l="l"/>
            <a:pathLst>
              <a:path h="7930890" w="7732618">
                <a:moveTo>
                  <a:pt x="0" y="0"/>
                </a:moveTo>
                <a:lnTo>
                  <a:pt x="7732618" y="0"/>
                </a:lnTo>
                <a:lnTo>
                  <a:pt x="7732618" y="7930890"/>
                </a:lnTo>
                <a:lnTo>
                  <a:pt x="0" y="7930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4446" y="1180787"/>
            <a:ext cx="7040756" cy="2622681"/>
          </a:xfrm>
          <a:custGeom>
            <a:avLst/>
            <a:gdLst/>
            <a:ahLst/>
            <a:cxnLst/>
            <a:rect r="r" b="b" t="t" l="l"/>
            <a:pathLst>
              <a:path h="2622681" w="7040756">
                <a:moveTo>
                  <a:pt x="0" y="0"/>
                </a:moveTo>
                <a:lnTo>
                  <a:pt x="7040756" y="0"/>
                </a:lnTo>
                <a:lnTo>
                  <a:pt x="7040756" y="2622682"/>
                </a:lnTo>
                <a:lnTo>
                  <a:pt x="0" y="26226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0789">
            <a:off x="-5738075" y="-5063240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7" y="0"/>
                </a:lnTo>
                <a:lnTo>
                  <a:pt x="7756327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984045">
            <a:off x="14596559" y="-4611571"/>
            <a:ext cx="8675569" cy="9156274"/>
          </a:xfrm>
          <a:custGeom>
            <a:avLst/>
            <a:gdLst/>
            <a:ahLst/>
            <a:cxnLst/>
            <a:rect r="r" b="b" t="t" l="l"/>
            <a:pathLst>
              <a:path h="9156274" w="8675569">
                <a:moveTo>
                  <a:pt x="0" y="0"/>
                </a:moveTo>
                <a:lnTo>
                  <a:pt x="8675569" y="0"/>
                </a:lnTo>
                <a:lnTo>
                  <a:pt x="8675569" y="9156274"/>
                </a:lnTo>
                <a:lnTo>
                  <a:pt x="0" y="91562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805336">
            <a:off x="16023423" y="-105781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2"/>
                </a:lnTo>
                <a:lnTo>
                  <a:pt x="0" y="22689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2923033"/>
            <a:ext cx="8895422" cy="8005880"/>
          </a:xfrm>
          <a:custGeom>
            <a:avLst/>
            <a:gdLst/>
            <a:ahLst/>
            <a:cxnLst/>
            <a:rect r="r" b="b" t="t" l="l"/>
            <a:pathLst>
              <a:path h="8005880" w="8895422">
                <a:moveTo>
                  <a:pt x="0" y="0"/>
                </a:moveTo>
                <a:lnTo>
                  <a:pt x="8895422" y="0"/>
                </a:lnTo>
                <a:lnTo>
                  <a:pt x="8895422" y="8005880"/>
                </a:lnTo>
                <a:lnTo>
                  <a:pt x="0" y="800588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0789">
            <a:off x="5966752" y="-5805896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7" y="0"/>
                </a:lnTo>
                <a:lnTo>
                  <a:pt x="7756327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805336">
            <a:off x="9372183" y="-1167916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3"/>
                </a:lnTo>
                <a:lnTo>
                  <a:pt x="0" y="226896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416050">
            <a:off x="-4747867" y="6835864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7" y="0"/>
                </a:lnTo>
                <a:lnTo>
                  <a:pt x="7756327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29760" y="1416910"/>
            <a:ext cx="5130498" cy="2045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4"/>
              </a:lnSpc>
            </a:pPr>
            <a:r>
              <a:rPr lang="en-US" sz="5910">
                <a:solidFill>
                  <a:srgbClr val="F5F0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2. Design Test Case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132" y="-2091690"/>
            <a:ext cx="18201736" cy="14470380"/>
          </a:xfrm>
          <a:custGeom>
            <a:avLst/>
            <a:gdLst/>
            <a:ahLst/>
            <a:cxnLst/>
            <a:rect r="r" b="b" t="t" l="l"/>
            <a:pathLst>
              <a:path h="14470380" w="18201736">
                <a:moveTo>
                  <a:pt x="0" y="0"/>
                </a:moveTo>
                <a:lnTo>
                  <a:pt x="18201736" y="0"/>
                </a:lnTo>
                <a:lnTo>
                  <a:pt x="18201736" y="14470380"/>
                </a:lnTo>
                <a:lnTo>
                  <a:pt x="0" y="14470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028700" y="964713"/>
            <a:ext cx="9069273" cy="9301819"/>
          </a:xfrm>
          <a:custGeom>
            <a:avLst/>
            <a:gdLst/>
            <a:ahLst/>
            <a:cxnLst/>
            <a:rect r="r" b="b" t="t" l="l"/>
            <a:pathLst>
              <a:path h="9301819" w="9069273">
                <a:moveTo>
                  <a:pt x="0" y="0"/>
                </a:moveTo>
                <a:lnTo>
                  <a:pt x="9069273" y="0"/>
                </a:lnTo>
                <a:lnTo>
                  <a:pt x="9069273" y="9301819"/>
                </a:lnTo>
                <a:lnTo>
                  <a:pt x="0" y="93018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6453" y="797955"/>
            <a:ext cx="7040756" cy="2622681"/>
          </a:xfrm>
          <a:custGeom>
            <a:avLst/>
            <a:gdLst/>
            <a:ahLst/>
            <a:cxnLst/>
            <a:rect r="r" b="b" t="t" l="l"/>
            <a:pathLst>
              <a:path h="2622681" w="7040756">
                <a:moveTo>
                  <a:pt x="0" y="0"/>
                </a:moveTo>
                <a:lnTo>
                  <a:pt x="7040755" y="0"/>
                </a:lnTo>
                <a:lnTo>
                  <a:pt x="7040755" y="2622681"/>
                </a:lnTo>
                <a:lnTo>
                  <a:pt x="0" y="26226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2167235" y="5412646"/>
            <a:ext cx="6120765" cy="4874354"/>
          </a:xfrm>
          <a:custGeom>
            <a:avLst/>
            <a:gdLst/>
            <a:ahLst/>
            <a:cxnLst/>
            <a:rect r="r" b="b" t="t" l="l"/>
            <a:pathLst>
              <a:path h="4874354" w="6120765">
                <a:moveTo>
                  <a:pt x="6120765" y="0"/>
                </a:moveTo>
                <a:lnTo>
                  <a:pt x="0" y="0"/>
                </a:lnTo>
                <a:lnTo>
                  <a:pt x="0" y="4874354"/>
                </a:lnTo>
                <a:lnTo>
                  <a:pt x="6120765" y="4874354"/>
                </a:lnTo>
                <a:lnTo>
                  <a:pt x="612076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0789">
            <a:off x="6116916" y="-5805896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7" y="0"/>
                </a:lnTo>
                <a:lnTo>
                  <a:pt x="7756327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56841" y="1461484"/>
            <a:ext cx="5899980" cy="95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70"/>
              </a:lnSpc>
            </a:pPr>
            <a:r>
              <a:rPr lang="en-US" sz="5621">
                <a:solidFill>
                  <a:srgbClr val="F5F0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a.Unit Testing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06423" y="3423285"/>
            <a:ext cx="7584348" cy="321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651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Unit Testing</a:t>
            </a:r>
          </a:p>
          <a:p>
            <a:pPr algn="just" marL="755651" indent="-377825" lvl="1">
              <a:lnSpc>
                <a:spcPts val="651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Intergration Testing </a:t>
            </a:r>
          </a:p>
          <a:p>
            <a:pPr algn="just" marL="755651" indent="-377825" lvl="1">
              <a:lnSpc>
                <a:spcPts val="651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End-to-End Testing</a:t>
            </a:r>
          </a:p>
          <a:p>
            <a:pPr algn="just" marL="755651" indent="-377825" lvl="1">
              <a:lnSpc>
                <a:spcPts val="651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Performance Testing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5805336">
            <a:off x="9669372" y="-169768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3"/>
                </a:lnTo>
                <a:lnTo>
                  <a:pt x="0" y="22689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0789">
            <a:off x="15176680" y="-4783782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6" y="0"/>
                </a:lnTo>
                <a:lnTo>
                  <a:pt x="7756326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132" y="-2091690"/>
            <a:ext cx="18201736" cy="14470380"/>
          </a:xfrm>
          <a:custGeom>
            <a:avLst/>
            <a:gdLst/>
            <a:ahLst/>
            <a:cxnLst/>
            <a:rect r="r" b="b" t="t" l="l"/>
            <a:pathLst>
              <a:path h="14470380" w="18201736">
                <a:moveTo>
                  <a:pt x="0" y="0"/>
                </a:moveTo>
                <a:lnTo>
                  <a:pt x="18201736" y="0"/>
                </a:lnTo>
                <a:lnTo>
                  <a:pt x="18201736" y="14470380"/>
                </a:lnTo>
                <a:lnTo>
                  <a:pt x="0" y="14470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028700" y="964713"/>
            <a:ext cx="9069273" cy="9301819"/>
          </a:xfrm>
          <a:custGeom>
            <a:avLst/>
            <a:gdLst/>
            <a:ahLst/>
            <a:cxnLst/>
            <a:rect r="r" b="b" t="t" l="l"/>
            <a:pathLst>
              <a:path h="9301819" w="9069273">
                <a:moveTo>
                  <a:pt x="0" y="0"/>
                </a:moveTo>
                <a:lnTo>
                  <a:pt x="9069273" y="0"/>
                </a:lnTo>
                <a:lnTo>
                  <a:pt x="9069273" y="9301819"/>
                </a:lnTo>
                <a:lnTo>
                  <a:pt x="0" y="93018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6453" y="797955"/>
            <a:ext cx="7040756" cy="2622681"/>
          </a:xfrm>
          <a:custGeom>
            <a:avLst/>
            <a:gdLst/>
            <a:ahLst/>
            <a:cxnLst/>
            <a:rect r="r" b="b" t="t" l="l"/>
            <a:pathLst>
              <a:path h="2622681" w="7040756">
                <a:moveTo>
                  <a:pt x="0" y="0"/>
                </a:moveTo>
                <a:lnTo>
                  <a:pt x="7040755" y="0"/>
                </a:lnTo>
                <a:lnTo>
                  <a:pt x="7040755" y="2622681"/>
                </a:lnTo>
                <a:lnTo>
                  <a:pt x="0" y="26226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2167235" y="5412646"/>
            <a:ext cx="6120765" cy="4874354"/>
          </a:xfrm>
          <a:custGeom>
            <a:avLst/>
            <a:gdLst/>
            <a:ahLst/>
            <a:cxnLst/>
            <a:rect r="r" b="b" t="t" l="l"/>
            <a:pathLst>
              <a:path h="4874354" w="6120765">
                <a:moveTo>
                  <a:pt x="6120765" y="0"/>
                </a:moveTo>
                <a:lnTo>
                  <a:pt x="0" y="0"/>
                </a:lnTo>
                <a:lnTo>
                  <a:pt x="0" y="4874354"/>
                </a:lnTo>
                <a:lnTo>
                  <a:pt x="6120765" y="4874354"/>
                </a:lnTo>
                <a:lnTo>
                  <a:pt x="612076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0789">
            <a:off x="6116916" y="-5805896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7" y="0"/>
                </a:lnTo>
                <a:lnTo>
                  <a:pt x="7756327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56841" y="1461484"/>
            <a:ext cx="5899980" cy="95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70"/>
              </a:lnSpc>
            </a:pPr>
            <a:r>
              <a:rPr lang="en-US" sz="5621">
                <a:solidFill>
                  <a:srgbClr val="F5F0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a.Unit Testing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71162" y="3197734"/>
            <a:ext cx="7584348" cy="803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Test cases include: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Add product to a new cart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Add product to an existing cart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Update product quantity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Remove product from cart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Clear all items from cart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Calc</a:t>
            </a: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ulate cart total price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Validate empty cart state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Handle non-existent product error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Handle negative quantity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Handle zero quantity</a:t>
            </a:r>
          </a:p>
          <a:p>
            <a:pPr algn="l">
              <a:lnSpc>
                <a:spcPts val="4900"/>
              </a:lnSpc>
            </a:pPr>
          </a:p>
          <a:p>
            <a:pPr algn="l">
              <a:lnSpc>
                <a:spcPts val="4900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-5805336">
            <a:off x="9669372" y="-169768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3"/>
                </a:lnTo>
                <a:lnTo>
                  <a:pt x="0" y="22689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0789">
            <a:off x="15176680" y="-4783782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6" y="0"/>
                </a:lnTo>
                <a:lnTo>
                  <a:pt x="7756326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132" y="-2091690"/>
            <a:ext cx="18201736" cy="14470380"/>
          </a:xfrm>
          <a:custGeom>
            <a:avLst/>
            <a:gdLst/>
            <a:ahLst/>
            <a:cxnLst/>
            <a:rect r="r" b="b" t="t" l="l"/>
            <a:pathLst>
              <a:path h="14470380" w="18201736">
                <a:moveTo>
                  <a:pt x="0" y="0"/>
                </a:moveTo>
                <a:lnTo>
                  <a:pt x="18201736" y="0"/>
                </a:lnTo>
                <a:lnTo>
                  <a:pt x="18201736" y="14470380"/>
                </a:lnTo>
                <a:lnTo>
                  <a:pt x="0" y="14470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028700" y="964713"/>
            <a:ext cx="9069273" cy="9301819"/>
          </a:xfrm>
          <a:custGeom>
            <a:avLst/>
            <a:gdLst/>
            <a:ahLst/>
            <a:cxnLst/>
            <a:rect r="r" b="b" t="t" l="l"/>
            <a:pathLst>
              <a:path h="9301819" w="9069273">
                <a:moveTo>
                  <a:pt x="0" y="0"/>
                </a:moveTo>
                <a:lnTo>
                  <a:pt x="9069273" y="0"/>
                </a:lnTo>
                <a:lnTo>
                  <a:pt x="9069273" y="9301819"/>
                </a:lnTo>
                <a:lnTo>
                  <a:pt x="0" y="93018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6453" y="797955"/>
            <a:ext cx="7040756" cy="2622681"/>
          </a:xfrm>
          <a:custGeom>
            <a:avLst/>
            <a:gdLst/>
            <a:ahLst/>
            <a:cxnLst/>
            <a:rect r="r" b="b" t="t" l="l"/>
            <a:pathLst>
              <a:path h="2622681" w="7040756">
                <a:moveTo>
                  <a:pt x="0" y="0"/>
                </a:moveTo>
                <a:lnTo>
                  <a:pt x="7040755" y="0"/>
                </a:lnTo>
                <a:lnTo>
                  <a:pt x="7040755" y="2622681"/>
                </a:lnTo>
                <a:lnTo>
                  <a:pt x="0" y="26226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2167235" y="5412646"/>
            <a:ext cx="6120765" cy="4874354"/>
          </a:xfrm>
          <a:custGeom>
            <a:avLst/>
            <a:gdLst/>
            <a:ahLst/>
            <a:cxnLst/>
            <a:rect r="r" b="b" t="t" l="l"/>
            <a:pathLst>
              <a:path h="4874354" w="6120765">
                <a:moveTo>
                  <a:pt x="6120765" y="0"/>
                </a:moveTo>
                <a:lnTo>
                  <a:pt x="0" y="0"/>
                </a:lnTo>
                <a:lnTo>
                  <a:pt x="0" y="4874354"/>
                </a:lnTo>
                <a:lnTo>
                  <a:pt x="6120765" y="4874354"/>
                </a:lnTo>
                <a:lnTo>
                  <a:pt x="612076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0789">
            <a:off x="6116916" y="-5805896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7" y="0"/>
                </a:lnTo>
                <a:lnTo>
                  <a:pt x="7756327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56841" y="1461484"/>
            <a:ext cx="5899980" cy="1956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70"/>
              </a:lnSpc>
            </a:pPr>
            <a:r>
              <a:rPr lang="en-US" sz="5621">
                <a:solidFill>
                  <a:srgbClr val="F5F0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b.Integration Testing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56841" y="3636521"/>
            <a:ext cx="7584348" cy="494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Retrieve cart information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Add product to cart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Remove product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Update quantity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Clear all items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Authentication handling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Validation error handling</a:t>
            </a:r>
          </a:p>
          <a:p>
            <a:pPr algn="l">
              <a:lnSpc>
                <a:spcPts val="4900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-5805336">
            <a:off x="9669372" y="-169768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3"/>
                </a:lnTo>
                <a:lnTo>
                  <a:pt x="0" y="22689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0789">
            <a:off x="15176680" y="-4783782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6" y="0"/>
                </a:lnTo>
                <a:lnTo>
                  <a:pt x="7756326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132" y="-2091690"/>
            <a:ext cx="18201736" cy="14470380"/>
          </a:xfrm>
          <a:custGeom>
            <a:avLst/>
            <a:gdLst/>
            <a:ahLst/>
            <a:cxnLst/>
            <a:rect r="r" b="b" t="t" l="l"/>
            <a:pathLst>
              <a:path h="14470380" w="18201736">
                <a:moveTo>
                  <a:pt x="0" y="0"/>
                </a:moveTo>
                <a:lnTo>
                  <a:pt x="18201736" y="0"/>
                </a:lnTo>
                <a:lnTo>
                  <a:pt x="18201736" y="14470380"/>
                </a:lnTo>
                <a:lnTo>
                  <a:pt x="0" y="14470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028700" y="964713"/>
            <a:ext cx="9069273" cy="9301819"/>
          </a:xfrm>
          <a:custGeom>
            <a:avLst/>
            <a:gdLst/>
            <a:ahLst/>
            <a:cxnLst/>
            <a:rect r="r" b="b" t="t" l="l"/>
            <a:pathLst>
              <a:path h="9301819" w="9069273">
                <a:moveTo>
                  <a:pt x="0" y="0"/>
                </a:moveTo>
                <a:lnTo>
                  <a:pt x="9069273" y="0"/>
                </a:lnTo>
                <a:lnTo>
                  <a:pt x="9069273" y="9301819"/>
                </a:lnTo>
                <a:lnTo>
                  <a:pt x="0" y="93018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6453" y="797955"/>
            <a:ext cx="7040756" cy="2622681"/>
          </a:xfrm>
          <a:custGeom>
            <a:avLst/>
            <a:gdLst/>
            <a:ahLst/>
            <a:cxnLst/>
            <a:rect r="r" b="b" t="t" l="l"/>
            <a:pathLst>
              <a:path h="2622681" w="7040756">
                <a:moveTo>
                  <a:pt x="0" y="0"/>
                </a:moveTo>
                <a:lnTo>
                  <a:pt x="7040755" y="0"/>
                </a:lnTo>
                <a:lnTo>
                  <a:pt x="7040755" y="2622681"/>
                </a:lnTo>
                <a:lnTo>
                  <a:pt x="0" y="26226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2167235" y="5412646"/>
            <a:ext cx="6120765" cy="4874354"/>
          </a:xfrm>
          <a:custGeom>
            <a:avLst/>
            <a:gdLst/>
            <a:ahLst/>
            <a:cxnLst/>
            <a:rect r="r" b="b" t="t" l="l"/>
            <a:pathLst>
              <a:path h="4874354" w="6120765">
                <a:moveTo>
                  <a:pt x="6120765" y="0"/>
                </a:moveTo>
                <a:lnTo>
                  <a:pt x="0" y="0"/>
                </a:lnTo>
                <a:lnTo>
                  <a:pt x="0" y="4874354"/>
                </a:lnTo>
                <a:lnTo>
                  <a:pt x="6120765" y="4874354"/>
                </a:lnTo>
                <a:lnTo>
                  <a:pt x="612076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0789">
            <a:off x="6116916" y="-5805896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7" y="0"/>
                </a:lnTo>
                <a:lnTo>
                  <a:pt x="7756327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56841" y="1461484"/>
            <a:ext cx="5899980" cy="1956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70"/>
              </a:lnSpc>
            </a:pPr>
            <a:r>
              <a:rPr lang="en-US" sz="5621">
                <a:solidFill>
                  <a:srgbClr val="F5F0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c.End-to-End (E2E) Testing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56841" y="3636521"/>
            <a:ext cx="7584348" cy="555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Manual UI Testing via Web Interface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Access: http://localhost:3000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Login: With a customer account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Add product: Click “Add to Cart”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Vi</a:t>
            </a: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ew cart: Click cart icon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Update quantity:</a:t>
            </a: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Us</a:t>
            </a: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 +/- buttons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Remove</a:t>
            </a: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prod</a:t>
            </a: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uct: Click “Remove”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Checkout: C</a:t>
            </a: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lick “Checkout”</a:t>
            </a:r>
          </a:p>
          <a:p>
            <a:pPr algn="l">
              <a:lnSpc>
                <a:spcPts val="4900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-5805336">
            <a:off x="9669372" y="-169768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3"/>
                </a:lnTo>
                <a:lnTo>
                  <a:pt x="0" y="22689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0789">
            <a:off x="15176680" y="-4783782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6" y="0"/>
                </a:lnTo>
                <a:lnTo>
                  <a:pt x="7756326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132" y="-2091690"/>
            <a:ext cx="18201736" cy="14470380"/>
          </a:xfrm>
          <a:custGeom>
            <a:avLst/>
            <a:gdLst/>
            <a:ahLst/>
            <a:cxnLst/>
            <a:rect r="r" b="b" t="t" l="l"/>
            <a:pathLst>
              <a:path h="14470380" w="18201736">
                <a:moveTo>
                  <a:pt x="0" y="0"/>
                </a:moveTo>
                <a:lnTo>
                  <a:pt x="18201736" y="0"/>
                </a:lnTo>
                <a:lnTo>
                  <a:pt x="18201736" y="14470380"/>
                </a:lnTo>
                <a:lnTo>
                  <a:pt x="0" y="14470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028700" y="964713"/>
            <a:ext cx="9069273" cy="9301819"/>
          </a:xfrm>
          <a:custGeom>
            <a:avLst/>
            <a:gdLst/>
            <a:ahLst/>
            <a:cxnLst/>
            <a:rect r="r" b="b" t="t" l="l"/>
            <a:pathLst>
              <a:path h="9301819" w="9069273">
                <a:moveTo>
                  <a:pt x="0" y="0"/>
                </a:moveTo>
                <a:lnTo>
                  <a:pt x="9069273" y="0"/>
                </a:lnTo>
                <a:lnTo>
                  <a:pt x="9069273" y="9301819"/>
                </a:lnTo>
                <a:lnTo>
                  <a:pt x="0" y="93018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6453" y="797955"/>
            <a:ext cx="7040756" cy="2622681"/>
          </a:xfrm>
          <a:custGeom>
            <a:avLst/>
            <a:gdLst/>
            <a:ahLst/>
            <a:cxnLst/>
            <a:rect r="r" b="b" t="t" l="l"/>
            <a:pathLst>
              <a:path h="2622681" w="7040756">
                <a:moveTo>
                  <a:pt x="0" y="0"/>
                </a:moveTo>
                <a:lnTo>
                  <a:pt x="7040755" y="0"/>
                </a:lnTo>
                <a:lnTo>
                  <a:pt x="7040755" y="2622681"/>
                </a:lnTo>
                <a:lnTo>
                  <a:pt x="0" y="26226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2167235" y="5412646"/>
            <a:ext cx="6120765" cy="4874354"/>
          </a:xfrm>
          <a:custGeom>
            <a:avLst/>
            <a:gdLst/>
            <a:ahLst/>
            <a:cxnLst/>
            <a:rect r="r" b="b" t="t" l="l"/>
            <a:pathLst>
              <a:path h="4874354" w="6120765">
                <a:moveTo>
                  <a:pt x="6120765" y="0"/>
                </a:moveTo>
                <a:lnTo>
                  <a:pt x="0" y="0"/>
                </a:lnTo>
                <a:lnTo>
                  <a:pt x="0" y="4874354"/>
                </a:lnTo>
                <a:lnTo>
                  <a:pt x="6120765" y="4874354"/>
                </a:lnTo>
                <a:lnTo>
                  <a:pt x="612076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0789">
            <a:off x="6116916" y="-5805896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7" y="0"/>
                </a:lnTo>
                <a:lnTo>
                  <a:pt x="7756327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56841" y="1461484"/>
            <a:ext cx="5899980" cy="1956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70"/>
              </a:lnSpc>
            </a:pPr>
            <a:r>
              <a:rPr lang="en-US" sz="5621">
                <a:solidFill>
                  <a:srgbClr val="F5F0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d. Performance Testing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56841" y="4147773"/>
            <a:ext cx="7584348" cy="370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Stress Testing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Test with 100+ items in</a:t>
            </a: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cart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Test with high concurrency (multiple simultaneous users)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Test with large-scale database</a:t>
            </a:r>
          </a:p>
          <a:p>
            <a:pPr algn="l">
              <a:lnSpc>
                <a:spcPts val="4900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-5805336">
            <a:off x="9669372" y="-169768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3"/>
                </a:lnTo>
                <a:lnTo>
                  <a:pt x="0" y="22689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0789">
            <a:off x="15176680" y="-4783782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6" y="0"/>
                </a:lnTo>
                <a:lnTo>
                  <a:pt x="7756326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132" y="-2091690"/>
            <a:ext cx="18201736" cy="14470380"/>
          </a:xfrm>
          <a:custGeom>
            <a:avLst/>
            <a:gdLst/>
            <a:ahLst/>
            <a:cxnLst/>
            <a:rect r="r" b="b" t="t" l="l"/>
            <a:pathLst>
              <a:path h="14470380" w="18201736">
                <a:moveTo>
                  <a:pt x="0" y="0"/>
                </a:moveTo>
                <a:lnTo>
                  <a:pt x="18201736" y="0"/>
                </a:lnTo>
                <a:lnTo>
                  <a:pt x="18201736" y="14470380"/>
                </a:lnTo>
                <a:lnTo>
                  <a:pt x="0" y="14470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21752">
            <a:off x="11437641" y="1130232"/>
            <a:ext cx="2282416" cy="2340940"/>
          </a:xfrm>
          <a:custGeom>
            <a:avLst/>
            <a:gdLst/>
            <a:ahLst/>
            <a:cxnLst/>
            <a:rect r="r" b="b" t="t" l="l"/>
            <a:pathLst>
              <a:path h="2340940" w="2282416">
                <a:moveTo>
                  <a:pt x="0" y="0"/>
                </a:moveTo>
                <a:lnTo>
                  <a:pt x="2282416" y="0"/>
                </a:lnTo>
                <a:lnTo>
                  <a:pt x="2282416" y="2340939"/>
                </a:lnTo>
                <a:lnTo>
                  <a:pt x="0" y="23409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928810"/>
            <a:ext cx="3196724" cy="3308382"/>
          </a:xfrm>
          <a:custGeom>
            <a:avLst/>
            <a:gdLst/>
            <a:ahLst/>
            <a:cxnLst/>
            <a:rect r="r" b="b" t="t" l="l"/>
            <a:pathLst>
              <a:path h="3308382" w="3196724">
                <a:moveTo>
                  <a:pt x="0" y="0"/>
                </a:moveTo>
                <a:lnTo>
                  <a:pt x="3196724" y="0"/>
                </a:lnTo>
                <a:lnTo>
                  <a:pt x="3196724" y="3308382"/>
                </a:lnTo>
                <a:lnTo>
                  <a:pt x="0" y="33083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133716">
            <a:off x="14489354" y="1365950"/>
            <a:ext cx="2593226" cy="3067256"/>
          </a:xfrm>
          <a:custGeom>
            <a:avLst/>
            <a:gdLst/>
            <a:ahLst/>
            <a:cxnLst/>
            <a:rect r="r" b="b" t="t" l="l"/>
            <a:pathLst>
              <a:path h="3067256" w="2593226">
                <a:moveTo>
                  <a:pt x="0" y="0"/>
                </a:moveTo>
                <a:lnTo>
                  <a:pt x="2593225" y="0"/>
                </a:lnTo>
                <a:lnTo>
                  <a:pt x="2593225" y="3067256"/>
                </a:lnTo>
                <a:lnTo>
                  <a:pt x="0" y="30672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0789">
            <a:off x="15176680" y="-4783782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6" y="0"/>
                </a:lnTo>
                <a:lnTo>
                  <a:pt x="7756326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0789">
            <a:off x="-3878163" y="6608584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6" y="0"/>
                </a:lnTo>
                <a:lnTo>
                  <a:pt x="7756326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43132" y="790720"/>
            <a:ext cx="18288000" cy="5705937"/>
          </a:xfrm>
          <a:custGeom>
            <a:avLst/>
            <a:gdLst/>
            <a:ahLst/>
            <a:cxnLst/>
            <a:rect r="r" b="b" t="t" l="l"/>
            <a:pathLst>
              <a:path h="5705937" w="18288000">
                <a:moveTo>
                  <a:pt x="0" y="0"/>
                </a:moveTo>
                <a:lnTo>
                  <a:pt x="18288000" y="0"/>
                </a:lnTo>
                <a:lnTo>
                  <a:pt x="18288000" y="5705937"/>
                </a:lnTo>
                <a:lnTo>
                  <a:pt x="0" y="570593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-45945" r="0" b="-3434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-104775"/>
            <a:ext cx="1828800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b="true" sz="5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3.1 Analyze Source Code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981075"/>
            <a:ext cx="18288000" cy="962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"Analyze this Spring Boot Cart API source and list everything required to write MockMvc integration tests for CartControllerIntegrationTestGrouped.java.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Scope: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Endpoints:</a:t>
            </a:r>
          </a:p>
          <a:p>
            <a:pPr algn="l" marL="1036317" indent="-345439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GET /api/cart</a:t>
            </a:r>
          </a:p>
          <a:p>
            <a:pPr algn="l" marL="1036317" indent="-345439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POST /api/cart/add</a:t>
            </a:r>
          </a:p>
          <a:p>
            <a:pPr algn="l" marL="1036317" indent="-345439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PUT /api/cart/update</a:t>
            </a:r>
          </a:p>
          <a:p>
            <a:pPr algn="l" marL="1036317" indent="-345439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DELETE /api/cart/remove/{id}</a:t>
            </a:r>
          </a:p>
          <a:p>
            <a:pPr algn="l" marL="1036317" indent="-345439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DELETE /api/cart/clear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Security: Authorization: Bearer &lt;token&gt; (valid / invalid / missing)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Deliver: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For each endpoint, specify:</a:t>
            </a:r>
          </a:p>
          <a:p>
            <a:pPr algn="l" marL="1036317" indent="-345439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Request contract (method, path, headers, JSON body, path variables)</a:t>
            </a:r>
          </a:p>
          <a:p>
            <a:pPr algn="l" marL="1036317" indent="-345439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Response schema fields (e.g., success, message, data.totalAmount, data.items[])</a:t>
            </a:r>
          </a:p>
          <a:p>
            <a:pPr algn="l" marL="1036317" indent="-345439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Validation rules (required fields, constraints like quantity, content type)</a:t>
            </a:r>
          </a:p>
          <a:p>
            <a:pPr algn="l" marL="1036317" indent="-345439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Edge cases (empty cart, remove non-existing id, quantity=0 = remove, duplicate product merges quantity)</a:t>
            </a:r>
          </a:p>
          <a:p>
            <a:pPr algn="l" marL="1036317" indent="-345439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Auth behavior (200 vs 401)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 data/fixtures needed for deterministic tests:</a:t>
            </a:r>
          </a:p>
          <a:p>
            <a:pPr algn="l" marL="1036317" indent="-345439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Product #1 price=150000</a:t>
            </a:r>
          </a:p>
          <a:p>
            <a:pPr algn="l" marL="1036317" indent="-345439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Product #2 price=120000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 checklist of JSONPath assertions per endpoint.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Setup/Cleanup strategy so tests are independent."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-104775"/>
            <a:ext cx="1828800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b="true" sz="5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3.2 Generate Test Cases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696595"/>
            <a:ext cx="18288000" cy="10045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"Generate comprehensive integration test cases for CartControllerIntegrationTestGrouped.java using JUnit 5 + MockMvc. Use Given – When – Then format and include for each case: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Request (method + URL + headers + JSON body)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Seed/Setup steps (if any)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Expect</a:t>
            </a: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 (HTTP status + JSONPath assertions like $.success, $.message, $.data.totalAmount)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Notes (business rule remarks)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AutoNum type="arabicPeriod" startAt="1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GetCart — GET /api/cart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Happy: cart has items → 200, success=true, data.totalAmount=300000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Seed: POST /api/cart/add {"productId":1,"quantity":2} (valid token)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Edge: empty cart → 200, success=true, data.totalAmount=0 (clear first)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Error: no token → 401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AutoNum type="arabicPeriod" startAt="1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AddToCart — POST /api/cart/add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Happy: {"productId":1,"quantity":2} → 200, success=true, message contains "added"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Edge: {"productId":1,"quantity":-1} → 200 if current rule allows negative (else 400)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Error: {"produc</a:t>
            </a: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tId":99999,"quantity":1} → 400, success=false, message contains "Product not found"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AutoNum type="arabicPeriod" startAt="1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UpdateCart — PUT /api/cart/update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Happy: {"productId":1,"quantity":5} → 200, success=true, message contains "updated" (seed add p1 first)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Edge: {"p</a:t>
            </a: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roductId":1,"quantity":0} → item removed → 200, success=true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Error: {"productId":99999,"quantity":1} → 400, message contains "Cart item not found"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AutoNum type="arabicPeriod" startAt="1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Remov</a:t>
            </a: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eFromCart — DELETE /api/cart/remove/{id}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Happy: remove existing id → 200, success=true, message contains "removed" (seed first)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Edge: remove non-existing id → 200, success=true (no-op)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Error: no token → 401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-104775"/>
            <a:ext cx="1828800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b="true" sz="5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3.2 Generate Test Cases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1371108"/>
            <a:ext cx="18288000" cy="8516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3"/>
              </a:lnSpc>
              <a:spcBef>
                <a:spcPct val="0"/>
              </a:spcBef>
            </a:pPr>
            <a:r>
              <a:rPr lang="en-US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5. </a:t>
            </a: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ClearCart — DELETE /api/</a:t>
            </a: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</a:t>
            </a: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art/clear</a:t>
            </a:r>
          </a:p>
          <a:p>
            <a:pPr algn="l" marL="578849" indent="-289424" lvl="1">
              <a:lnSpc>
                <a:spcPts val="375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Happy: clear non-empty → 200, success=true, message contains "cleared"</a:t>
            </a:r>
          </a:p>
          <a:p>
            <a:pPr algn="l" marL="578849" indent="-289424" lvl="1">
              <a:lnSpc>
                <a:spcPts val="375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Edge: clear empty → 200, success=true</a:t>
            </a:r>
          </a:p>
          <a:p>
            <a:pPr algn="l" marL="578849" indent="-289424" lvl="1">
              <a:lnSpc>
                <a:spcPts val="375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Error: no token → 401</a:t>
            </a:r>
          </a:p>
          <a:p>
            <a:pPr algn="l">
              <a:lnSpc>
                <a:spcPts val="3753"/>
              </a:lnSpc>
              <a:spcBef>
                <a:spcPct val="0"/>
              </a:spcBef>
            </a:pP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6.Vali</a:t>
            </a: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dation (payload/schema/content-type)</a:t>
            </a:r>
          </a:p>
          <a:p>
            <a:pPr algn="l" marL="578849" indent="-289424" lvl="1">
              <a:lnSpc>
                <a:spcPts val="375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Happy: valid JSON payload → 200, success=true</a:t>
            </a:r>
          </a:p>
          <a:p>
            <a:pPr algn="l" marL="578849" indent="-289424" lvl="1">
              <a:lnSpc>
                <a:spcPts val="375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Edge: missing field / quantity=0 when invalid → 400</a:t>
            </a:r>
          </a:p>
          <a:p>
            <a:pPr algn="l" marL="578849" indent="-289424" lvl="1">
              <a:lnSpc>
                <a:spcPts val="375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Error: wrong Co</a:t>
            </a: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ntent-Type or malformed JSON → 400/415 (match actual config)</a:t>
            </a:r>
          </a:p>
          <a:p>
            <a:pPr algn="l">
              <a:lnSpc>
                <a:spcPts val="3753"/>
              </a:lnSpc>
              <a:spcBef>
                <a:spcPct val="0"/>
              </a:spcBef>
            </a:pP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7.C</a:t>
            </a: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artEdgeCases (stateful &amp; idempotent)</a:t>
            </a:r>
          </a:p>
          <a:p>
            <a:pPr algn="l" marL="578849" indent="-289424" lvl="1">
              <a:lnSpc>
                <a:spcPts val="375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Happy: add two distinct products → 200; GET shows merged total (e.g., 270000 for p1×1 + p2×1)</a:t>
            </a:r>
          </a:p>
          <a:p>
            <a:pPr algn="l" marL="578849" indent="-289424" lvl="1">
              <a:lnSpc>
                <a:spcPts val="375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Edge: add same p</a:t>
            </a: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roduct multiple times → merged quantity → 200</a:t>
            </a:r>
          </a:p>
          <a:p>
            <a:pPr algn="l" marL="578849" indent="-289424" lvl="1">
              <a:lnSpc>
                <a:spcPts val="375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Error: malformed JSON → 400</a:t>
            </a:r>
          </a:p>
          <a:p>
            <a:pPr algn="l">
              <a:lnSpc>
                <a:spcPts val="3753"/>
              </a:lnSpc>
              <a:spcBef>
                <a:spcPct val="0"/>
              </a:spcBef>
            </a:pP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8.</a:t>
            </a: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Authentication</a:t>
            </a:r>
          </a:p>
          <a:p>
            <a:pPr algn="l" marL="578849" indent="-289424" lvl="1">
              <a:lnSpc>
                <a:spcPts val="375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Happy: valid token → 200</a:t>
            </a:r>
          </a:p>
          <a:p>
            <a:pPr algn="l" marL="578849" indent="-289424" lvl="1">
              <a:lnSpc>
                <a:spcPts val="375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Edge: invalid/expired token → 401</a:t>
            </a:r>
          </a:p>
          <a:p>
            <a:pPr algn="l" marL="578849" indent="-289424" lvl="1">
              <a:lnSpc>
                <a:spcPts val="375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Error: missing token → 401</a:t>
            </a:r>
          </a:p>
          <a:p>
            <a:pPr algn="l">
              <a:lnSpc>
                <a:spcPts val="3753"/>
              </a:lnSpc>
              <a:spcBef>
                <a:spcPct val="0"/>
              </a:spcBef>
            </a:pP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Assume Product #1 price=150000, Product #2 price=120000. Return the full Given–When–Then matrix."</a:t>
            </a:r>
          </a:p>
          <a:p>
            <a:pPr algn="l">
              <a:lnSpc>
                <a:spcPts val="375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-104775"/>
            <a:ext cx="1828800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b="true" sz="5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3.3 Generate MockMvc Test Code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1080135"/>
            <a:ext cx="18288000" cy="9206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"</a:t>
            </a: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Create JUnit 5 + Spring Mo</a:t>
            </a: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ckMv</a:t>
            </a: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 test code for CartControllerIntegrationTestGrouped.java that implements the test cases above.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Requirements: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Annotations: @SpringBootTest, @AutoConfigureMockMvc, @ActiveProfiles("test")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Group tests with @Nested into 8 groups (GetCart, AddToCart, UpdateCart, RemoveFromCart, ClearCart,</a:t>
            </a: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Vali</a:t>
            </a: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dation, CartEdgeCases, Authentication)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Use status() and jsonPath() assertions; include contentType checks where helpful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Provide helpers:</a:t>
            </a:r>
          </a:p>
          <a:p>
            <a:pPr algn="l" marL="1036320" indent="-345440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Autho</a:t>
            </a: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rization header: Authorization: Bearer &lt;toke</a:t>
            </a: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n&gt;</a:t>
            </a:r>
          </a:p>
          <a:p>
            <a:pPr algn="l" marL="1036320" indent="-345440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Token factory or placeholders for valid/invalid/missing</a:t>
            </a: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tokens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Seed deterministic data:</a:t>
            </a:r>
          </a:p>
          <a:p>
            <a:pPr algn="l" marL="1036320" indent="-345440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Ensure Product #1 price=150000, Product #2 price=120000 (via @Sql, repository calls, or test fixtures)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Mak</a:t>
            </a: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 each test independent (setup/tea</a:t>
            </a: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rdown or inline seeding)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Implement sample tests for each group (at least 3 per group), including:</a:t>
            </a:r>
          </a:p>
          <a:p>
            <a:pPr algn="l" marL="1036320" indent="-345440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GET /ap</a:t>
            </a: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i/cart (happy/empty/401)</a:t>
            </a:r>
          </a:p>
          <a:p>
            <a:pPr algn="l" marL="1036320" indent="-345440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POST /api/cart/add (happy/negative edge/error not found)</a:t>
            </a:r>
          </a:p>
          <a:p>
            <a:pPr algn="l" marL="1036320" indent="-345440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PUT /api/cart/update (happy/zero removes/error)</a:t>
            </a:r>
          </a:p>
          <a:p>
            <a:pPr algn="l" marL="1036320" indent="-345440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DELETE /api/cart/remove/{id} (happy/no-op/401)</a:t>
            </a:r>
          </a:p>
          <a:p>
            <a:pPr algn="l" marL="1036320" indent="-345440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DELETE</a:t>
            </a: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/api/cart/clear (happy/empty/401)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Return a single Java test class skeleton named CartControllerIntegrationTestGrouped.java, ready to compile and run."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-104775"/>
            <a:ext cx="1828800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b="true" sz="5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3.4 Debug Test Failures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1290004"/>
            <a:ext cx="18285500" cy="8514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8"/>
              </a:lnSpc>
              <a:spcBef>
                <a:spcPct val="0"/>
              </a:spcBef>
            </a:pPr>
            <a:r>
              <a:rPr lang="en-US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"D</a:t>
            </a: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ebug the following failing Mo</a:t>
            </a: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ckMv</a:t>
            </a: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 integration test for CartController and propose fixes.</a:t>
            </a:r>
          </a:p>
          <a:p>
            <a:pPr algn="l">
              <a:lnSpc>
                <a:spcPts val="4248"/>
              </a:lnSpc>
              <a:spcBef>
                <a:spcPct val="0"/>
              </a:spcBef>
            </a:pP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Error:</a:t>
            </a:r>
          </a:p>
          <a:p>
            <a:pPr algn="l">
              <a:lnSpc>
                <a:spcPts val="4248"/>
              </a:lnSpc>
              <a:spcBef>
                <a:spcPct val="0"/>
              </a:spcBef>
            </a:pP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  Expected $.data.totalAmount = 300000 but was 0</a:t>
            </a:r>
          </a:p>
          <a:p>
            <a:pPr algn="l">
              <a:lnSpc>
                <a:spcPts val="4248"/>
              </a:lnSpc>
              <a:spcBef>
                <a:spcPct val="0"/>
              </a:spcBef>
            </a:pPr>
          </a:p>
          <a:p>
            <a:pPr algn="l">
              <a:lnSpc>
                <a:spcPts val="4248"/>
              </a:lnSpc>
              <a:spcBef>
                <a:spcPct val="0"/>
              </a:spcBef>
            </a:pP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 snippet:</a:t>
            </a:r>
          </a:p>
          <a:p>
            <a:pPr algn="just">
              <a:lnSpc>
                <a:spcPts val="4248"/>
              </a:lnSpc>
              <a:spcBef>
                <a:spcPct val="0"/>
              </a:spcBef>
            </a:pP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mockMvc.perform(get("/api/cart")</a:t>
            </a:r>
          </a:p>
          <a:p>
            <a:pPr algn="just">
              <a:lnSpc>
                <a:spcPts val="4248"/>
              </a:lnSpc>
              <a:spcBef>
                <a:spcPct val="0"/>
              </a:spcBef>
            </a:pP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.header(HttpHeaders.AUTHORIZATION, "Bearer " +</a:t>
            </a: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token))</a:t>
            </a:r>
          </a:p>
          <a:p>
            <a:pPr algn="just">
              <a:lnSpc>
                <a:spcPts val="4248"/>
              </a:lnSpc>
              <a:spcBef>
                <a:spcPct val="0"/>
              </a:spcBef>
            </a:pP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.andExpect(status().isOk())</a:t>
            </a:r>
          </a:p>
          <a:p>
            <a:pPr algn="just">
              <a:lnSpc>
                <a:spcPts val="4248"/>
              </a:lnSpc>
              <a:spcBef>
                <a:spcPct val="0"/>
              </a:spcBef>
            </a:pP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.andExpect(jsonPath("$.success").value(true))</a:t>
            </a:r>
          </a:p>
          <a:p>
            <a:pPr algn="just">
              <a:lnSpc>
                <a:spcPts val="4248"/>
              </a:lnSpc>
              <a:spcBef>
                <a:spcPct val="0"/>
              </a:spcBef>
            </a:pP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.andExpect(jsonPath("$.data.totalAmount").value(300000));</a:t>
            </a:r>
          </a:p>
          <a:p>
            <a:pPr algn="just">
              <a:lnSpc>
                <a:spcPts val="4248"/>
              </a:lnSpc>
              <a:spcBef>
                <a:spcPct val="0"/>
              </a:spcBef>
            </a:pPr>
          </a:p>
          <a:p>
            <a:pPr algn="just">
              <a:lnSpc>
                <a:spcPts val="4248"/>
              </a:lnSpc>
              <a:spcBef>
                <a:spcPct val="0"/>
              </a:spcBef>
            </a:pP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Seed/Assumptions:</a:t>
            </a:r>
          </a:p>
          <a:p>
            <a:pPr algn="just" marL="655170" indent="-327585" lvl="1">
              <a:lnSpc>
                <a:spcPts val="424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POST /api/cart/add with {"productId":1,"quantity":2} executed before GET</a:t>
            </a:r>
          </a:p>
          <a:p>
            <a:pPr algn="just" marL="655170" indent="-327585" lvl="1">
              <a:lnSpc>
                <a:spcPts val="424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Prod</a:t>
            </a: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uct</a:t>
            </a: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#1 price=150000</a:t>
            </a:r>
          </a:p>
          <a:p>
            <a:pPr algn="l">
              <a:lnSpc>
                <a:spcPts val="4248"/>
              </a:lnSpc>
              <a:spcBef>
                <a:spcPct val="0"/>
              </a:spcBef>
            </a:pPr>
          </a:p>
          <a:p>
            <a:pPr algn="l">
              <a:lnSpc>
                <a:spcPts val="424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-104775"/>
            <a:ext cx="1828800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b="true" sz="5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3.4 Debug Test Failures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1945389"/>
            <a:ext cx="18288000" cy="6339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8"/>
              </a:lnSpc>
            </a:pPr>
            <a:r>
              <a:rPr lang="en-US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Tasks:</a:t>
            </a:r>
          </a:p>
          <a:p>
            <a:pPr algn="l" marL="655170" indent="-327585" lvl="1">
              <a:lnSpc>
                <a:spcPts val="4248"/>
              </a:lnSpc>
              <a:spcBef>
                <a:spcPct val="0"/>
              </a:spcBef>
              <a:buAutoNum type="arabicPeriod" startAt="1"/>
            </a:pPr>
            <a:r>
              <a:rPr lang="en-US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Id</a:t>
            </a: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entify likely root </a:t>
            </a: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causes:</a:t>
            </a: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wrong user context/token? seed executed in a different test or not committed? product price not loaded in test profile? state cleared by @BeforeEach?</a:t>
            </a:r>
          </a:p>
          <a:p>
            <a:pPr algn="l" marL="655170" indent="-327585" lvl="1">
              <a:lnSpc>
                <a:spcPts val="4248"/>
              </a:lnSpc>
              <a:spcBef>
                <a:spcPct val="0"/>
              </a:spcBef>
              <a:buAutoNum type="arabicPeriod" startAt="1"/>
            </a:pP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Provide minimal, concrete fixes:</a:t>
            </a:r>
          </a:p>
          <a:p>
            <a:pPr algn="l" marL="1310340" indent="-436780" lvl="2">
              <a:lnSpc>
                <a:spcPts val="4248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Inline seeding in the same test, ensure same</a:t>
            </a: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token/user</a:t>
            </a:r>
          </a:p>
          <a:p>
            <a:pPr algn="l" marL="1310340" indent="-436780" lvl="2">
              <a:lnSpc>
                <a:spcPts val="4248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Verify product seeding (via @Sql or repository) and price mapping</a:t>
            </a:r>
          </a:p>
          <a:p>
            <a:pPr algn="l" marL="1310340" indent="-436780" lvl="2">
              <a:lnSpc>
                <a:spcPts val="4248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Ensure transactions are committed/visible to the GET</a:t>
            </a:r>
          </a:p>
          <a:p>
            <a:pPr algn="l" marL="1310340" indent="-436780" lvl="2">
              <a:lnSpc>
                <a:spcPts val="4248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Avoid cross-test state (clear cart in @AfterEach or isolate users)</a:t>
            </a:r>
          </a:p>
          <a:p>
            <a:pPr algn="l" marL="655170" indent="-327585" lvl="1">
              <a:lnSpc>
                <a:spcPts val="4248"/>
              </a:lnSpc>
              <a:spcBef>
                <a:spcPct val="0"/>
              </a:spcBef>
              <a:buAutoNum type="arabicPeriod" startAt="1"/>
            </a:pP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Return corrected test code (MockMvc calls) and any test configuration changes (profile test, da</a:t>
            </a: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</a:t>
            </a: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seeding, JWT helpers)."</a:t>
            </a:r>
          </a:p>
          <a:p>
            <a:pPr algn="l">
              <a:lnSpc>
                <a:spcPts val="424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028700"/>
            <a:ext cx="18288000" cy="8983980"/>
          </a:xfrm>
          <a:custGeom>
            <a:avLst/>
            <a:gdLst/>
            <a:ahLst/>
            <a:cxnLst/>
            <a:rect r="r" b="b" t="t" l="l"/>
            <a:pathLst>
              <a:path h="8983980" w="18288000">
                <a:moveTo>
                  <a:pt x="0" y="0"/>
                </a:moveTo>
                <a:lnTo>
                  <a:pt x="18288000" y="0"/>
                </a:lnTo>
                <a:lnTo>
                  <a:pt x="18288000" y="8983980"/>
                </a:lnTo>
                <a:lnTo>
                  <a:pt x="0" y="89839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-104775"/>
            <a:ext cx="1828800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b="true" sz="5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 cases Matrix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303020"/>
            <a:ext cx="18288000" cy="7680960"/>
          </a:xfrm>
          <a:custGeom>
            <a:avLst/>
            <a:gdLst/>
            <a:ahLst/>
            <a:cxnLst/>
            <a:rect r="r" b="b" t="t" l="l"/>
            <a:pathLst>
              <a:path h="7680960" w="18288000">
                <a:moveTo>
                  <a:pt x="0" y="0"/>
                </a:moveTo>
                <a:lnTo>
                  <a:pt x="18288000" y="0"/>
                </a:lnTo>
                <a:lnTo>
                  <a:pt x="18288000" y="7680960"/>
                </a:lnTo>
                <a:lnTo>
                  <a:pt x="0" y="76809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-104775"/>
            <a:ext cx="1828800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b="true" sz="5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 cases Matrix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071713"/>
            <a:ext cx="18288000" cy="8321040"/>
          </a:xfrm>
          <a:custGeom>
            <a:avLst/>
            <a:gdLst/>
            <a:ahLst/>
            <a:cxnLst/>
            <a:rect r="r" b="b" t="t" l="l"/>
            <a:pathLst>
              <a:path h="8321040" w="18288000">
                <a:moveTo>
                  <a:pt x="0" y="0"/>
                </a:moveTo>
                <a:lnTo>
                  <a:pt x="18288000" y="0"/>
                </a:lnTo>
                <a:lnTo>
                  <a:pt x="18288000" y="8321040"/>
                </a:lnTo>
                <a:lnTo>
                  <a:pt x="0" y="83210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-104775"/>
            <a:ext cx="1828800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b="true" sz="5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 cases Matrix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520190"/>
            <a:ext cx="18288000" cy="7246620"/>
          </a:xfrm>
          <a:custGeom>
            <a:avLst/>
            <a:gdLst/>
            <a:ahLst/>
            <a:cxnLst/>
            <a:rect r="r" b="b" t="t" l="l"/>
            <a:pathLst>
              <a:path h="7246620" w="18288000">
                <a:moveTo>
                  <a:pt x="0" y="0"/>
                </a:moveTo>
                <a:lnTo>
                  <a:pt x="18288000" y="0"/>
                </a:lnTo>
                <a:lnTo>
                  <a:pt x="18288000" y="7246620"/>
                </a:lnTo>
                <a:lnTo>
                  <a:pt x="0" y="7246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-104775"/>
            <a:ext cx="1828800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b="true" sz="5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 cases Matrix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931670"/>
            <a:ext cx="18288000" cy="6423660"/>
          </a:xfrm>
          <a:custGeom>
            <a:avLst/>
            <a:gdLst/>
            <a:ahLst/>
            <a:cxnLst/>
            <a:rect r="r" b="b" t="t" l="l"/>
            <a:pathLst>
              <a:path h="6423660" w="18288000">
                <a:moveTo>
                  <a:pt x="0" y="0"/>
                </a:moveTo>
                <a:lnTo>
                  <a:pt x="18288000" y="0"/>
                </a:lnTo>
                <a:lnTo>
                  <a:pt x="18288000" y="6423660"/>
                </a:lnTo>
                <a:lnTo>
                  <a:pt x="0" y="64236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-104775"/>
            <a:ext cx="1828800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b="true" sz="5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 cases Matrix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330" y="1028700"/>
            <a:ext cx="18262670" cy="8241030"/>
          </a:xfrm>
          <a:custGeom>
            <a:avLst/>
            <a:gdLst/>
            <a:ahLst/>
            <a:cxnLst/>
            <a:rect r="r" b="b" t="t" l="l"/>
            <a:pathLst>
              <a:path h="8241030" w="18262670">
                <a:moveTo>
                  <a:pt x="0" y="0"/>
                </a:moveTo>
                <a:lnTo>
                  <a:pt x="18262670" y="0"/>
                </a:lnTo>
                <a:lnTo>
                  <a:pt x="18262670" y="8241030"/>
                </a:lnTo>
                <a:lnTo>
                  <a:pt x="0" y="82410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-104775"/>
            <a:ext cx="1828800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b="true" sz="5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 cases Matrix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680210"/>
            <a:ext cx="18288000" cy="6926580"/>
          </a:xfrm>
          <a:custGeom>
            <a:avLst/>
            <a:gdLst/>
            <a:ahLst/>
            <a:cxnLst/>
            <a:rect r="r" b="b" t="t" l="l"/>
            <a:pathLst>
              <a:path h="6926580" w="18288000">
                <a:moveTo>
                  <a:pt x="0" y="0"/>
                </a:moveTo>
                <a:lnTo>
                  <a:pt x="18288000" y="0"/>
                </a:lnTo>
                <a:lnTo>
                  <a:pt x="18288000" y="6926580"/>
                </a:lnTo>
                <a:lnTo>
                  <a:pt x="0" y="69265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-104775"/>
            <a:ext cx="1828800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b="true" sz="5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 cases Matrix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205990"/>
            <a:ext cx="18288000" cy="5875020"/>
          </a:xfrm>
          <a:custGeom>
            <a:avLst/>
            <a:gdLst/>
            <a:ahLst/>
            <a:cxnLst/>
            <a:rect r="r" b="b" t="t" l="l"/>
            <a:pathLst>
              <a:path h="5875020" w="18288000">
                <a:moveTo>
                  <a:pt x="0" y="0"/>
                </a:moveTo>
                <a:lnTo>
                  <a:pt x="18288000" y="0"/>
                </a:lnTo>
                <a:lnTo>
                  <a:pt x="18288000" y="5875020"/>
                </a:lnTo>
                <a:lnTo>
                  <a:pt x="0" y="5875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-104775"/>
            <a:ext cx="1828800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sz="5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 cases Matrix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789">
            <a:off x="14366705" y="-5503332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6" y="0"/>
                </a:lnTo>
                <a:lnTo>
                  <a:pt x="7756326" y="8186096"/>
                </a:lnTo>
                <a:lnTo>
                  <a:pt x="0" y="81860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984045">
            <a:off x="-7511735" y="4955889"/>
            <a:ext cx="8675569" cy="9156274"/>
          </a:xfrm>
          <a:custGeom>
            <a:avLst/>
            <a:gdLst/>
            <a:ahLst/>
            <a:cxnLst/>
            <a:rect r="r" b="b" t="t" l="l"/>
            <a:pathLst>
              <a:path h="9156274" w="8675569">
                <a:moveTo>
                  <a:pt x="0" y="0"/>
                </a:moveTo>
                <a:lnTo>
                  <a:pt x="8675570" y="0"/>
                </a:lnTo>
                <a:lnTo>
                  <a:pt x="8675570" y="9156273"/>
                </a:lnTo>
                <a:lnTo>
                  <a:pt x="0" y="91562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30493" y="971550"/>
            <a:ext cx="15827015" cy="5590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  <a:spcBef>
                <a:spcPct val="0"/>
              </a:spcBef>
            </a:pPr>
            <a:r>
              <a:rPr lang="en-US" sz="290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TESTADDTOCART_WITHINVALIDPRODU</a:t>
            </a:r>
            <a:r>
              <a:rPr lang="en-US" sz="290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CT_SHOULDTHROWEXCEPTION</a:t>
            </a:r>
          </a:p>
          <a:p>
            <a:pPr algn="l">
              <a:lnSpc>
                <a:spcPts val="4071"/>
              </a:lnSpc>
              <a:spcBef>
                <a:spcPct val="0"/>
              </a:spcBef>
            </a:pPr>
            <a:r>
              <a:rPr lang="en-US" sz="290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CATEGORY (Phân loại): ❌ ERROR CASE</a:t>
            </a:r>
          </a:p>
          <a:p>
            <a:pPr algn="l">
              <a:lnSpc>
                <a:spcPts val="4071"/>
              </a:lnSpc>
              <a:spcBef>
                <a:spcPct val="0"/>
              </a:spcBef>
            </a:pPr>
            <a:r>
              <a:rPr lang="en-US" sz="290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MỤC ĐÍCH (Purpose):</a:t>
            </a:r>
          </a:p>
          <a:p>
            <a:pPr algn="l">
              <a:lnSpc>
                <a:spcPts val="4071"/>
              </a:lnSpc>
              <a:spcBef>
                <a:spcPct val="0"/>
              </a:spcBef>
            </a:pPr>
            <a:r>
              <a:rPr lang="en-US" sz="290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Kiểm tra hệ thống xử lý lỗi khi người dùng thêm sản phẩm không tồn tại.</a:t>
            </a:r>
          </a:p>
          <a:p>
            <a:pPr algn="l">
              <a:lnSpc>
                <a:spcPts val="4071"/>
              </a:lnSpc>
              <a:spcBef>
                <a:spcPct val="0"/>
              </a:spcBef>
            </a:pPr>
            <a:r>
              <a:rPr lang="en-US" sz="290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Verify that the system throws an exception when trying to add a non-existent product to the cart.</a:t>
            </a:r>
          </a:p>
          <a:p>
            <a:pPr algn="l">
              <a:lnSpc>
                <a:spcPts val="4071"/>
              </a:lnSpc>
              <a:spcBef>
                <a:spcPct val="0"/>
              </a:spcBef>
            </a:pPr>
            <a:r>
              <a:rPr lang="en-US" sz="290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HÀM ĐƯỢC TEST (Function Under Test):</a:t>
            </a:r>
          </a:p>
          <a:p>
            <a:pPr algn="l">
              <a:lnSpc>
                <a:spcPts val="4071"/>
              </a:lnSpc>
              <a:spcBef>
                <a:spcPct val="0"/>
              </a:spcBef>
            </a:pPr>
            <a:r>
              <a:rPr lang="en-US" sz="290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CartService.addToCart(userId, nonExistentProductId, quantity)</a:t>
            </a:r>
          </a:p>
          <a:p>
            <a:pPr algn="l">
              <a:lnSpc>
                <a:spcPts val="4071"/>
              </a:lnSpc>
              <a:spcBef>
                <a:spcPct val="0"/>
              </a:spcBef>
            </a:pPr>
            <a:r>
              <a:rPr lang="en-US" sz="290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KỲ VỌNG (Expected Result):</a:t>
            </a:r>
          </a:p>
          <a:p>
            <a:pPr algn="l" marL="627858" indent="-313929" lvl="1">
              <a:lnSpc>
                <a:spcPts val="4071"/>
              </a:lnSpc>
              <a:spcBef>
                <a:spcPct val="0"/>
              </a:spcBef>
              <a:buFont typeface="Arial"/>
              <a:buChar char="•"/>
            </a:pPr>
            <a:r>
              <a:rPr lang="en-US" sz="290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Hệ thống ném ra RuntimeException</a:t>
            </a:r>
          </a:p>
          <a:p>
            <a:pPr algn="l" marL="627858" indent="-313929" lvl="1">
              <a:lnSpc>
                <a:spcPts val="4071"/>
              </a:lnSpc>
              <a:spcBef>
                <a:spcPct val="0"/>
              </a:spcBef>
              <a:buFont typeface="Arial"/>
              <a:buChar char="•"/>
            </a:pPr>
            <a:r>
              <a:rPr lang="en-US" sz="290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Message: "Product not found"</a:t>
            </a:r>
          </a:p>
          <a:p>
            <a:pPr algn="l">
              <a:lnSpc>
                <a:spcPts val="407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789">
            <a:off x="14366705" y="-5503332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6" y="0"/>
                </a:lnTo>
                <a:lnTo>
                  <a:pt x="7756326" y="8186096"/>
                </a:lnTo>
                <a:lnTo>
                  <a:pt x="0" y="81860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984045">
            <a:off x="-7511735" y="4955889"/>
            <a:ext cx="8675569" cy="9156274"/>
          </a:xfrm>
          <a:custGeom>
            <a:avLst/>
            <a:gdLst/>
            <a:ahLst/>
            <a:cxnLst/>
            <a:rect r="r" b="b" t="t" l="l"/>
            <a:pathLst>
              <a:path h="9156274" w="8675569">
                <a:moveTo>
                  <a:pt x="0" y="0"/>
                </a:moveTo>
                <a:lnTo>
                  <a:pt x="8675570" y="0"/>
                </a:lnTo>
                <a:lnTo>
                  <a:pt x="8675570" y="9156273"/>
                </a:lnTo>
                <a:lnTo>
                  <a:pt x="0" y="91562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9869" y="1946099"/>
            <a:ext cx="15088262" cy="4903685"/>
          </a:xfrm>
          <a:custGeom>
            <a:avLst/>
            <a:gdLst/>
            <a:ahLst/>
            <a:cxnLst/>
            <a:rect r="r" b="b" t="t" l="l"/>
            <a:pathLst>
              <a:path h="4903685" w="15088262">
                <a:moveTo>
                  <a:pt x="0" y="0"/>
                </a:moveTo>
                <a:lnTo>
                  <a:pt x="15088262" y="0"/>
                </a:lnTo>
                <a:lnTo>
                  <a:pt x="15088262" y="4903685"/>
                </a:lnTo>
                <a:lnTo>
                  <a:pt x="0" y="49036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789">
            <a:off x="14366705" y="-5503332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6" y="0"/>
                </a:lnTo>
                <a:lnTo>
                  <a:pt x="7756326" y="8186096"/>
                </a:lnTo>
                <a:lnTo>
                  <a:pt x="0" y="81860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984045">
            <a:off x="-7511735" y="4955889"/>
            <a:ext cx="8675569" cy="9156274"/>
          </a:xfrm>
          <a:custGeom>
            <a:avLst/>
            <a:gdLst/>
            <a:ahLst/>
            <a:cxnLst/>
            <a:rect r="r" b="b" t="t" l="l"/>
            <a:pathLst>
              <a:path h="9156274" w="8675569">
                <a:moveTo>
                  <a:pt x="0" y="0"/>
                </a:moveTo>
                <a:lnTo>
                  <a:pt x="8675570" y="0"/>
                </a:lnTo>
                <a:lnTo>
                  <a:pt x="8675570" y="9156273"/>
                </a:lnTo>
                <a:lnTo>
                  <a:pt x="0" y="91562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4125" y="971550"/>
            <a:ext cx="17673875" cy="5641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3"/>
              </a:lnSpc>
              <a:spcBef>
                <a:spcPct val="0"/>
              </a:spcBef>
            </a:pPr>
          </a:p>
          <a:p>
            <a:pPr algn="l">
              <a:lnSpc>
                <a:spcPts val="4073"/>
              </a:lnSpc>
              <a:spcBef>
                <a:spcPct val="0"/>
              </a:spcBef>
            </a:pPr>
            <a:r>
              <a:rPr lang="en-US" sz="291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TESTREMOVEFROMCART_WITHINVALIDUSERID_SHOULDNOTTHROWEXCEPTION</a:t>
            </a:r>
          </a:p>
          <a:p>
            <a:pPr algn="l">
              <a:lnSpc>
                <a:spcPts val="4073"/>
              </a:lnSpc>
              <a:spcBef>
                <a:spcPct val="0"/>
              </a:spcBef>
            </a:pPr>
            <a:r>
              <a:rPr lang="en-US" sz="291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CATEGORY (Phân loại): ❌ ERROR CASE</a:t>
            </a:r>
          </a:p>
          <a:p>
            <a:pPr algn="l">
              <a:lnSpc>
                <a:spcPts val="4073"/>
              </a:lnSpc>
              <a:spcBef>
                <a:spcPct val="0"/>
              </a:spcBef>
            </a:pPr>
            <a:r>
              <a:rPr lang="en-US" sz="291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MỤC ĐÍCH (Purpose):</a:t>
            </a:r>
          </a:p>
          <a:p>
            <a:pPr algn="l">
              <a:lnSpc>
                <a:spcPts val="4073"/>
              </a:lnSpc>
              <a:spcBef>
                <a:spcPct val="0"/>
              </a:spcBef>
            </a:pPr>
            <a:r>
              <a:rPr lang="en-US" sz="291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Kiểm tra hành vi của hệ thống khi người dùng thực hiện xóa sản phẩm hoặc làm trống giỏ hàng với userId không hợp lệ.</a:t>
            </a:r>
          </a:p>
          <a:p>
            <a:pPr algn="l">
              <a:lnSpc>
                <a:spcPts val="4073"/>
              </a:lnSpc>
              <a:spcBef>
                <a:spcPct val="0"/>
              </a:spcBef>
            </a:pPr>
            <a:r>
              <a:rPr lang="en-US" sz="291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Verify that the system handles invalid user ID gracefully when removing items or clearing the cart without throwing exceptions.</a:t>
            </a:r>
          </a:p>
          <a:p>
            <a:pPr algn="l">
              <a:lnSpc>
                <a:spcPts val="4073"/>
              </a:lnSpc>
              <a:spcBef>
                <a:spcPct val="0"/>
              </a:spcBef>
            </a:pPr>
            <a:r>
              <a:rPr lang="en-US" sz="291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HÀM ĐƯỢC TEST (Function Under Test):</a:t>
            </a:r>
          </a:p>
          <a:p>
            <a:pPr algn="l">
              <a:lnSpc>
                <a:spcPts val="4073"/>
              </a:lnSpc>
              <a:spcBef>
                <a:spcPct val="0"/>
              </a:spcBef>
            </a:pPr>
            <a:r>
              <a:rPr lang="en-US" sz="291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CartService.removeFromCart(userId, productId)</a:t>
            </a:r>
          </a:p>
          <a:p>
            <a:pPr algn="l">
              <a:lnSpc>
                <a:spcPts val="4073"/>
              </a:lnSpc>
              <a:spcBef>
                <a:spcPct val="0"/>
              </a:spcBef>
            </a:pPr>
            <a:r>
              <a:rPr lang="en-US" sz="291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CartService.clearCart(userId)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789">
            <a:off x="14366705" y="-5503332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6" y="0"/>
                </a:lnTo>
                <a:lnTo>
                  <a:pt x="7756326" y="8186096"/>
                </a:lnTo>
                <a:lnTo>
                  <a:pt x="0" y="81860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984045">
            <a:off x="-7511735" y="4955889"/>
            <a:ext cx="8675569" cy="9156274"/>
          </a:xfrm>
          <a:custGeom>
            <a:avLst/>
            <a:gdLst/>
            <a:ahLst/>
            <a:cxnLst/>
            <a:rect r="r" b="b" t="t" l="l"/>
            <a:pathLst>
              <a:path h="9156274" w="8675569">
                <a:moveTo>
                  <a:pt x="0" y="0"/>
                </a:moveTo>
                <a:lnTo>
                  <a:pt x="8675570" y="0"/>
                </a:lnTo>
                <a:lnTo>
                  <a:pt x="8675570" y="9156273"/>
                </a:lnTo>
                <a:lnTo>
                  <a:pt x="0" y="91562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169898"/>
            <a:ext cx="14990962" cy="4815847"/>
          </a:xfrm>
          <a:custGeom>
            <a:avLst/>
            <a:gdLst/>
            <a:ahLst/>
            <a:cxnLst/>
            <a:rect r="r" b="b" t="t" l="l"/>
            <a:pathLst>
              <a:path h="4815847" w="14990962">
                <a:moveTo>
                  <a:pt x="0" y="0"/>
                </a:moveTo>
                <a:lnTo>
                  <a:pt x="14990962" y="0"/>
                </a:lnTo>
                <a:lnTo>
                  <a:pt x="14990962" y="4815847"/>
                </a:lnTo>
                <a:lnTo>
                  <a:pt x="0" y="48158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789">
            <a:off x="14366705" y="-5503332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6" y="0"/>
                </a:lnTo>
                <a:lnTo>
                  <a:pt x="7756326" y="8186096"/>
                </a:lnTo>
                <a:lnTo>
                  <a:pt x="0" y="81860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984045">
            <a:off x="-7511735" y="4955889"/>
            <a:ext cx="8675569" cy="9156274"/>
          </a:xfrm>
          <a:custGeom>
            <a:avLst/>
            <a:gdLst/>
            <a:ahLst/>
            <a:cxnLst/>
            <a:rect r="r" b="b" t="t" l="l"/>
            <a:pathLst>
              <a:path h="9156274" w="8675569">
                <a:moveTo>
                  <a:pt x="0" y="0"/>
                </a:moveTo>
                <a:lnTo>
                  <a:pt x="8675570" y="0"/>
                </a:lnTo>
                <a:lnTo>
                  <a:pt x="8675570" y="9156273"/>
                </a:lnTo>
                <a:lnTo>
                  <a:pt x="0" y="91562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20770" y="1560792"/>
            <a:ext cx="15646460" cy="5117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6"/>
              </a:lnSpc>
              <a:spcBef>
                <a:spcPct val="0"/>
              </a:spcBef>
            </a:pPr>
            <a:r>
              <a:rPr lang="en-US" sz="290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TESTCALCULATETOTAL_WITHVALIDCART_SHOULDSUCCESS</a:t>
            </a:r>
          </a:p>
          <a:p>
            <a:pPr algn="l">
              <a:lnSpc>
                <a:spcPts val="4066"/>
              </a:lnSpc>
              <a:spcBef>
                <a:spcPct val="0"/>
              </a:spcBef>
            </a:pPr>
            <a:r>
              <a:rPr lang="en-US" sz="290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CATEGORY (Phân loại): ✅ HAPPY PATH</a:t>
            </a:r>
          </a:p>
          <a:p>
            <a:pPr algn="l">
              <a:lnSpc>
                <a:spcPts val="4066"/>
              </a:lnSpc>
              <a:spcBef>
                <a:spcPct val="0"/>
              </a:spcBef>
            </a:pPr>
            <a:r>
              <a:rPr lang="en-US" sz="290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MỤC ĐÍCH (Purpose):</a:t>
            </a:r>
          </a:p>
          <a:p>
            <a:pPr algn="l">
              <a:lnSpc>
                <a:spcPts val="4066"/>
              </a:lnSpc>
              <a:spcBef>
                <a:spcPct val="0"/>
              </a:spcBef>
            </a:pPr>
            <a:r>
              <a:rPr lang="en-US" sz="290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Kiểm tra luồng tính tổng tiền, số lượng sản phẩm, và trạng thái giỏ hàng khi dữ liệu hợp lệ.</a:t>
            </a:r>
          </a:p>
          <a:p>
            <a:pPr algn="l">
              <a:lnSpc>
                <a:spcPts val="4066"/>
              </a:lnSpc>
              <a:spcBef>
                <a:spcPct val="0"/>
              </a:spcBef>
            </a:pPr>
            <a:r>
              <a:rPr lang="en-US" sz="290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Verify that the system correctly calculates total amount, counts items, and checks if the cart is empty with valid data.</a:t>
            </a:r>
          </a:p>
          <a:p>
            <a:pPr algn="l">
              <a:lnSpc>
                <a:spcPts val="4066"/>
              </a:lnSpc>
              <a:spcBef>
                <a:spcPct val="0"/>
              </a:spcBef>
            </a:pPr>
            <a:r>
              <a:rPr lang="en-US" sz="290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HÀM ĐƯỢC TEST (Function Under Test):</a:t>
            </a:r>
          </a:p>
          <a:p>
            <a:pPr algn="l">
              <a:lnSpc>
                <a:spcPts val="4066"/>
              </a:lnSpc>
              <a:spcBef>
                <a:spcPct val="0"/>
              </a:spcBef>
            </a:pPr>
            <a:r>
              <a:rPr lang="en-US" sz="290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CartService.calculateTotal(userId)</a:t>
            </a:r>
          </a:p>
          <a:p>
            <a:pPr algn="l">
              <a:lnSpc>
                <a:spcPts val="4066"/>
              </a:lnSpc>
              <a:spcBef>
                <a:spcPct val="0"/>
              </a:spcBef>
            </a:pPr>
            <a:r>
              <a:rPr lang="en-US" sz="290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CartService.getCartItemCount(userId)</a:t>
            </a:r>
          </a:p>
          <a:p>
            <a:pPr algn="l">
              <a:lnSpc>
                <a:spcPts val="4066"/>
              </a:lnSpc>
              <a:spcBef>
                <a:spcPct val="0"/>
              </a:spcBef>
            </a:pPr>
            <a:r>
              <a:rPr lang="en-US" sz="290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CartService.isCartEmpty(userId)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789">
            <a:off x="14366705" y="-5503332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6" y="0"/>
                </a:lnTo>
                <a:lnTo>
                  <a:pt x="7756326" y="8186096"/>
                </a:lnTo>
                <a:lnTo>
                  <a:pt x="0" y="81860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984045">
            <a:off x="-7511735" y="4955889"/>
            <a:ext cx="8675569" cy="9156274"/>
          </a:xfrm>
          <a:custGeom>
            <a:avLst/>
            <a:gdLst/>
            <a:ahLst/>
            <a:cxnLst/>
            <a:rect r="r" b="b" t="t" l="l"/>
            <a:pathLst>
              <a:path h="9156274" w="8675569">
                <a:moveTo>
                  <a:pt x="0" y="0"/>
                </a:moveTo>
                <a:lnTo>
                  <a:pt x="8675570" y="0"/>
                </a:lnTo>
                <a:lnTo>
                  <a:pt x="8675570" y="9156273"/>
                </a:lnTo>
                <a:lnTo>
                  <a:pt x="0" y="91562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7014" y="2462125"/>
            <a:ext cx="15321732" cy="4270933"/>
          </a:xfrm>
          <a:custGeom>
            <a:avLst/>
            <a:gdLst/>
            <a:ahLst/>
            <a:cxnLst/>
            <a:rect r="r" b="b" t="t" l="l"/>
            <a:pathLst>
              <a:path h="4270933" w="15321732">
                <a:moveTo>
                  <a:pt x="0" y="0"/>
                </a:moveTo>
                <a:lnTo>
                  <a:pt x="15321732" y="0"/>
                </a:lnTo>
                <a:lnTo>
                  <a:pt x="15321732" y="4270933"/>
                </a:lnTo>
                <a:lnTo>
                  <a:pt x="0" y="42709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132" y="-2091690"/>
            <a:ext cx="18201736" cy="14470380"/>
          </a:xfrm>
          <a:custGeom>
            <a:avLst/>
            <a:gdLst/>
            <a:ahLst/>
            <a:cxnLst/>
            <a:rect r="r" b="b" t="t" l="l"/>
            <a:pathLst>
              <a:path h="14470380" w="18201736">
                <a:moveTo>
                  <a:pt x="0" y="0"/>
                </a:moveTo>
                <a:lnTo>
                  <a:pt x="18201736" y="0"/>
                </a:lnTo>
                <a:lnTo>
                  <a:pt x="18201736" y="14470380"/>
                </a:lnTo>
                <a:lnTo>
                  <a:pt x="0" y="14470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028700" y="1327410"/>
            <a:ext cx="7732618" cy="7930890"/>
          </a:xfrm>
          <a:custGeom>
            <a:avLst/>
            <a:gdLst/>
            <a:ahLst/>
            <a:cxnLst/>
            <a:rect r="r" b="b" t="t" l="l"/>
            <a:pathLst>
              <a:path h="7930890" w="7732618">
                <a:moveTo>
                  <a:pt x="0" y="0"/>
                </a:moveTo>
                <a:lnTo>
                  <a:pt x="7732618" y="0"/>
                </a:lnTo>
                <a:lnTo>
                  <a:pt x="7732618" y="7930890"/>
                </a:lnTo>
                <a:lnTo>
                  <a:pt x="0" y="7930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4446" y="1180787"/>
            <a:ext cx="7040756" cy="2622681"/>
          </a:xfrm>
          <a:custGeom>
            <a:avLst/>
            <a:gdLst/>
            <a:ahLst/>
            <a:cxnLst/>
            <a:rect r="r" b="b" t="t" l="l"/>
            <a:pathLst>
              <a:path h="2622681" w="7040756">
                <a:moveTo>
                  <a:pt x="0" y="0"/>
                </a:moveTo>
                <a:lnTo>
                  <a:pt x="7040756" y="0"/>
                </a:lnTo>
                <a:lnTo>
                  <a:pt x="7040756" y="2622682"/>
                </a:lnTo>
                <a:lnTo>
                  <a:pt x="0" y="26226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0789">
            <a:off x="-5738075" y="-5063240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7" y="0"/>
                </a:lnTo>
                <a:lnTo>
                  <a:pt x="7756327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984045">
            <a:off x="16219400" y="-4578137"/>
            <a:ext cx="8675569" cy="9156274"/>
          </a:xfrm>
          <a:custGeom>
            <a:avLst/>
            <a:gdLst/>
            <a:ahLst/>
            <a:cxnLst/>
            <a:rect r="r" b="b" t="t" l="l"/>
            <a:pathLst>
              <a:path h="9156274" w="8675569">
                <a:moveTo>
                  <a:pt x="0" y="0"/>
                </a:moveTo>
                <a:lnTo>
                  <a:pt x="8675569" y="0"/>
                </a:lnTo>
                <a:lnTo>
                  <a:pt x="8675569" y="9156274"/>
                </a:lnTo>
                <a:lnTo>
                  <a:pt x="0" y="91562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0789">
            <a:off x="5966752" y="-5805896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7" y="0"/>
                </a:lnTo>
                <a:lnTo>
                  <a:pt x="7756327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805336">
            <a:off x="9372183" y="-1167916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3"/>
                </a:lnTo>
                <a:lnTo>
                  <a:pt x="0" y="22689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416050">
            <a:off x="-4747867" y="6835864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7" y="0"/>
                </a:lnTo>
                <a:lnTo>
                  <a:pt x="7756327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4000" y="1545776"/>
            <a:ext cx="8457024" cy="11262381"/>
          </a:xfrm>
          <a:custGeom>
            <a:avLst/>
            <a:gdLst/>
            <a:ahLst/>
            <a:cxnLst/>
            <a:rect r="r" b="b" t="t" l="l"/>
            <a:pathLst>
              <a:path h="11262381" w="8457024">
                <a:moveTo>
                  <a:pt x="0" y="0"/>
                </a:moveTo>
                <a:lnTo>
                  <a:pt x="8457024" y="0"/>
                </a:lnTo>
                <a:lnTo>
                  <a:pt x="8457024" y="11262382"/>
                </a:lnTo>
                <a:lnTo>
                  <a:pt x="0" y="1126238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34446" y="4729164"/>
            <a:ext cx="15285818" cy="3916991"/>
          </a:xfrm>
          <a:custGeom>
            <a:avLst/>
            <a:gdLst/>
            <a:ahLst/>
            <a:cxnLst/>
            <a:rect r="r" b="b" t="t" l="l"/>
            <a:pathLst>
              <a:path h="3916991" w="15285818">
                <a:moveTo>
                  <a:pt x="0" y="0"/>
                </a:moveTo>
                <a:lnTo>
                  <a:pt x="15285818" y="0"/>
                </a:lnTo>
                <a:lnTo>
                  <a:pt x="15285818" y="3916991"/>
                </a:lnTo>
                <a:lnTo>
                  <a:pt x="0" y="391699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856841" y="1729233"/>
            <a:ext cx="5899980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F5F0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4.Debug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132" y="-2091690"/>
            <a:ext cx="18201736" cy="14470380"/>
          </a:xfrm>
          <a:custGeom>
            <a:avLst/>
            <a:gdLst/>
            <a:ahLst/>
            <a:cxnLst/>
            <a:rect r="r" b="b" t="t" l="l"/>
            <a:pathLst>
              <a:path h="14470380" w="18201736">
                <a:moveTo>
                  <a:pt x="0" y="0"/>
                </a:moveTo>
                <a:lnTo>
                  <a:pt x="18201736" y="0"/>
                </a:lnTo>
                <a:lnTo>
                  <a:pt x="18201736" y="14470380"/>
                </a:lnTo>
                <a:lnTo>
                  <a:pt x="0" y="14470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503874">
            <a:off x="14156503" y="7744576"/>
            <a:ext cx="4817894" cy="5084849"/>
          </a:xfrm>
          <a:custGeom>
            <a:avLst/>
            <a:gdLst/>
            <a:ahLst/>
            <a:cxnLst/>
            <a:rect r="r" b="b" t="t" l="l"/>
            <a:pathLst>
              <a:path h="5084849" w="4817894">
                <a:moveTo>
                  <a:pt x="0" y="0"/>
                </a:moveTo>
                <a:lnTo>
                  <a:pt x="4817894" y="0"/>
                </a:lnTo>
                <a:lnTo>
                  <a:pt x="4817894" y="5084848"/>
                </a:lnTo>
                <a:lnTo>
                  <a:pt x="0" y="50848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289414">
            <a:off x="-1719858" y="7325611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7" y="0"/>
                </a:lnTo>
                <a:lnTo>
                  <a:pt x="7756327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21752">
            <a:off x="10438761" y="1714600"/>
            <a:ext cx="3486013" cy="3575398"/>
          </a:xfrm>
          <a:custGeom>
            <a:avLst/>
            <a:gdLst/>
            <a:ahLst/>
            <a:cxnLst/>
            <a:rect r="r" b="b" t="t" l="l"/>
            <a:pathLst>
              <a:path h="3575398" w="3486013">
                <a:moveTo>
                  <a:pt x="0" y="0"/>
                </a:moveTo>
                <a:lnTo>
                  <a:pt x="3486013" y="0"/>
                </a:lnTo>
                <a:lnTo>
                  <a:pt x="3486013" y="3575397"/>
                </a:lnTo>
                <a:lnTo>
                  <a:pt x="0" y="35753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559260">
            <a:off x="5286113" y="377295"/>
            <a:ext cx="3903715" cy="6412674"/>
          </a:xfrm>
          <a:custGeom>
            <a:avLst/>
            <a:gdLst/>
            <a:ahLst/>
            <a:cxnLst/>
            <a:rect r="r" b="b" t="t" l="l"/>
            <a:pathLst>
              <a:path h="6412674" w="3903715">
                <a:moveTo>
                  <a:pt x="0" y="0"/>
                </a:moveTo>
                <a:lnTo>
                  <a:pt x="3903715" y="0"/>
                </a:lnTo>
                <a:lnTo>
                  <a:pt x="3903715" y="6412673"/>
                </a:lnTo>
                <a:lnTo>
                  <a:pt x="0" y="64126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61726" y="5398749"/>
            <a:ext cx="9135222" cy="3402870"/>
          </a:xfrm>
          <a:custGeom>
            <a:avLst/>
            <a:gdLst/>
            <a:ahLst/>
            <a:cxnLst/>
            <a:rect r="r" b="b" t="t" l="l"/>
            <a:pathLst>
              <a:path h="3402870" w="9135222">
                <a:moveTo>
                  <a:pt x="0" y="0"/>
                </a:moveTo>
                <a:lnTo>
                  <a:pt x="9135222" y="0"/>
                </a:lnTo>
                <a:lnTo>
                  <a:pt x="9135222" y="3402870"/>
                </a:lnTo>
                <a:lnTo>
                  <a:pt x="0" y="34028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370209">
            <a:off x="12014207" y="5825147"/>
            <a:ext cx="2558447" cy="2624048"/>
          </a:xfrm>
          <a:custGeom>
            <a:avLst/>
            <a:gdLst/>
            <a:ahLst/>
            <a:cxnLst/>
            <a:rect r="r" b="b" t="t" l="l"/>
            <a:pathLst>
              <a:path h="2624048" w="2558447">
                <a:moveTo>
                  <a:pt x="0" y="0"/>
                </a:moveTo>
                <a:lnTo>
                  <a:pt x="2558448" y="0"/>
                </a:lnTo>
                <a:lnTo>
                  <a:pt x="2558448" y="2624049"/>
                </a:lnTo>
                <a:lnTo>
                  <a:pt x="0" y="26240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858202" y="6081484"/>
            <a:ext cx="6542270" cy="189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0"/>
              </a:lnSpc>
            </a:pPr>
            <a:r>
              <a:rPr lang="en-US" sz="11000">
                <a:solidFill>
                  <a:srgbClr val="F5F0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listening</a:t>
            </a:r>
          </a:p>
        </p:txBody>
      </p:sp>
      <p:sp>
        <p:nvSpPr>
          <p:cNvPr name="TextBox 10" id="10"/>
          <p:cNvSpPr txBox="true"/>
          <p:nvPr/>
        </p:nvSpPr>
        <p:spPr>
          <a:xfrm rot="160905">
            <a:off x="12670100" y="6110092"/>
            <a:ext cx="1256913" cy="189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0"/>
              </a:lnSpc>
            </a:pPr>
            <a:r>
              <a:rPr lang="en-US" sz="11000">
                <a:solidFill>
                  <a:srgbClr val="2244B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64386" y="2783318"/>
            <a:ext cx="5547169" cy="189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0"/>
              </a:lnSpc>
            </a:pPr>
            <a:r>
              <a:rPr lang="en-US" sz="11000">
                <a:solidFill>
                  <a:srgbClr val="2244B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Thanks</a:t>
            </a:r>
          </a:p>
        </p:txBody>
      </p:sp>
      <p:sp>
        <p:nvSpPr>
          <p:cNvPr name="TextBox 12" id="12"/>
          <p:cNvSpPr txBox="true"/>
          <p:nvPr/>
        </p:nvSpPr>
        <p:spPr>
          <a:xfrm rot="321752">
            <a:off x="10939869" y="2528423"/>
            <a:ext cx="2504272" cy="189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0"/>
              </a:lnSpc>
            </a:pPr>
            <a:r>
              <a:rPr lang="en-US" sz="11000">
                <a:solidFill>
                  <a:srgbClr val="F5F0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for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1289414">
            <a:off x="13853834" y="-4323586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7" y="0"/>
                </a:lnTo>
                <a:lnTo>
                  <a:pt x="7756327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3918257">
            <a:off x="16757895" y="-554502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3"/>
                </a:lnTo>
                <a:lnTo>
                  <a:pt x="0" y="226896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8993957">
            <a:off x="-309747" y="8792039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3"/>
                </a:lnTo>
                <a:lnTo>
                  <a:pt x="0" y="226896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2833469">
            <a:off x="16757895" y="8817735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3"/>
                </a:lnTo>
                <a:lnTo>
                  <a:pt x="0" y="226896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6503874">
            <a:off x="-2089361" y="-1925488"/>
            <a:ext cx="5426702" cy="5727389"/>
          </a:xfrm>
          <a:custGeom>
            <a:avLst/>
            <a:gdLst/>
            <a:ahLst/>
            <a:cxnLst/>
            <a:rect r="r" b="b" t="t" l="l"/>
            <a:pathLst>
              <a:path h="5727389" w="5426702">
                <a:moveTo>
                  <a:pt x="0" y="0"/>
                </a:moveTo>
                <a:lnTo>
                  <a:pt x="5426702" y="0"/>
                </a:lnTo>
                <a:lnTo>
                  <a:pt x="5426702" y="5727390"/>
                </a:lnTo>
                <a:lnTo>
                  <a:pt x="0" y="57273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10711682">
            <a:off x="-1036500" y="338916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3"/>
                </a:lnTo>
                <a:lnTo>
                  <a:pt x="0" y="226896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DAG2sPhICa0</dc:identifier>
  <dcterms:modified xsi:type="dcterms:W3CDTF">2011-08-01T06:04:30Z</dcterms:modified>
  <cp:revision>1</cp:revision>
  <dc:title>SlideAi</dc:title>
</cp:coreProperties>
</file>